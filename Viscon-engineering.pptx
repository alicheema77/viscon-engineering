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media/image6.jpg" ContentType="image/jpg"/>
  <Override PartName="/ppt/media/image7.jpg" ContentType="image/jpg"/>
  <Override PartName="/ppt/notesSlides/notesSlide13.xml" ContentType="application/vnd.openxmlformats-officedocument.presentationml.notesSlide+xml"/>
  <Override PartName="/ppt/media/image10.jpg" ContentType="image/jpg"/>
  <Override PartName="/ppt/notesSlides/notesSlide14.xml" ContentType="application/vnd.openxmlformats-officedocument.presentationml.notesSlide+xml"/>
  <Override PartName="/ppt/media/image11.jpg" ContentType="image/jpg"/>
  <Override PartName="/ppt/notesSlides/notesSlide15.xml" ContentType="application/vnd.openxmlformats-officedocument.presentationml.notesSlide+xml"/>
  <Override PartName="/ppt/media/image12.jpg" ContentType="image/jpg"/>
  <Override PartName="/ppt/media/image14.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17.jpg" ContentType="image/jp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7"/>
  </p:notesMasterIdLst>
  <p:sldIdLst>
    <p:sldId id="260" r:id="rId2"/>
    <p:sldId id="261" r:id="rId3"/>
    <p:sldId id="262" r:id="rId4"/>
    <p:sldId id="283" r:id="rId5"/>
    <p:sldId id="263" r:id="rId6"/>
    <p:sldId id="264" r:id="rId7"/>
    <p:sldId id="265" r:id="rId8"/>
    <p:sldId id="274" r:id="rId9"/>
    <p:sldId id="278" r:id="rId10"/>
    <p:sldId id="281" r:id="rId11"/>
    <p:sldId id="279" r:id="rId12"/>
    <p:sldId id="282" r:id="rId13"/>
    <p:sldId id="266" r:id="rId14"/>
    <p:sldId id="267" r:id="rId15"/>
    <p:sldId id="268" r:id="rId16"/>
    <p:sldId id="285" r:id="rId17"/>
    <p:sldId id="271" r:id="rId18"/>
    <p:sldId id="284" r:id="rId19"/>
    <p:sldId id="272" r:id="rId20"/>
    <p:sldId id="273" r:id="rId21"/>
    <p:sldId id="275" r:id="rId22"/>
    <p:sldId id="287" r:id="rId23"/>
    <p:sldId id="288" r:id="rId24"/>
    <p:sldId id="290" r:id="rId25"/>
    <p:sldId id="289" r:id="rId26"/>
  </p:sldIdLst>
  <p:sldSz cx="9144000" cy="5143500" type="screen16x9"/>
  <p:notesSz cx="7010400" cy="9296400"/>
  <p:embeddedFontLst>
    <p:embeddedFont>
      <p:font typeface="Calisto MT" panose="02040603050505030304" pitchFamily="18" charset="0"/>
      <p:regular r:id="rId28"/>
      <p:bold r:id="rId29"/>
      <p:italic r:id="rId30"/>
      <p:boldItalic r:id="rId31"/>
    </p:embeddedFont>
    <p:embeddedFont>
      <p:font typeface="Montserrat" panose="00000500000000000000" pitchFamily="2" charset="0"/>
      <p:regular r:id="rId32"/>
      <p:bold r:id="rId33"/>
      <p:italic r:id="rId34"/>
      <p:boldItalic r:id="rId35"/>
    </p:embeddedFont>
    <p:embeddedFont>
      <p:font typeface="Roboto" panose="02000000000000000000" pitchFamily="2" charset="0"/>
      <p:regular r:id="rId36"/>
      <p:bold r:id="rId37"/>
      <p:italic r:id="rId38"/>
      <p:boldItalic r:id="rId39"/>
    </p:embeddedFont>
    <p:embeddedFont>
      <p:font typeface="Roboto Light" panose="020000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2570"/>
    <a:srgbClr val="003BB0"/>
    <a:srgbClr val="324F9E"/>
    <a:srgbClr val="003399"/>
    <a:srgbClr val="060640"/>
    <a:srgbClr val="003F7E"/>
    <a:srgbClr val="000099"/>
    <a:srgbClr val="001D46"/>
    <a:srgbClr val="001D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37DBE58-439A-43C2-9BEE-16E4DBF8C7AB}">
  <a:tblStyle styleId="{937DBE58-439A-43C2-9BEE-16E4DBF8C7A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60"/>
  </p:normalViewPr>
  <p:slideViewPr>
    <p:cSldViewPr snapToGrid="0">
      <p:cViewPr>
        <p:scale>
          <a:sx n="125" d="100"/>
          <a:sy n="125" d="100"/>
        </p:scale>
        <p:origin x="389"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lIns="93177" tIns="46589" rIns="93177" bIns="46589"/>
          <a:lstStyle/>
          <a:p>
            <a:endParaRPr lang="en-US"/>
          </a:p>
        </p:txBody>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538282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728580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090345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63414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672097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511776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837830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A9C8B86C-F87D-EAEC-FF4D-AC201DA64F35}"/>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647B0F41-52C5-387D-5408-7CECBC6EBB22}"/>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15DFF68D-88F1-0935-4D55-7E19F5D333ED}"/>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384045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458A8F30-C46D-5F9C-E478-602B75BEBF30}"/>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4CE8AF16-C705-C14C-5E5A-D9991A86010B}"/>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635129FA-6800-18C6-C654-DC22ABD3E812}"/>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477585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10340914-3804-8DA1-8B67-07EBFF1E3E9B}"/>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7FBAC913-DE42-8777-FC93-0ECFE548D43B}"/>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D6C3E95D-04E4-2FEE-E3EE-CA9A5A979ED0}"/>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661614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EFA0C3D-8826-9879-F3A0-6B3D43A99FD9}"/>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8E93D928-55B4-C114-81C2-36061CD27366}"/>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87A289F7-6E6F-537D-177C-B21DA4E39B06}"/>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879844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762056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268292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626701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2C135EDC-8DA1-1FC3-F742-DC2DBB0BAE76}"/>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7A0604D5-0A6C-90F0-8044-D8F6C0C6883B}"/>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44245D39-8314-8D5C-CDAF-4C0DB7449EFA}"/>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619658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4082259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75B026A-CBD4-5A05-7A82-137EAD017302}"/>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17FE6AAF-21BA-8DB1-3871-28171BFEA8BB}"/>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B020EFF9-03A4-C30A-FCA0-8FC8E18AB8A0}"/>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38028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4262261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607420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26540237-5051-57A2-A745-EAED1830D6C9}"/>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17DDDE7F-8B28-F32E-6FC8-81E4767AC689}"/>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00C8B3ED-499C-114A-06D7-46EF44B26B3A}"/>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757214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8AED0960-EB3B-A0B6-0E9D-84B100027DE8}"/>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9255B855-765C-09F0-4CD6-A47F59962710}"/>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BCC02020-1DF9-4A35-A321-AA3F27366BF9}"/>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431610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09D63EDD-F935-E128-FAC7-676D0C189592}"/>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9FA224A1-4EC8-3B06-80F6-913DBC26651F}"/>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CC984F6C-C021-A843-C582-0823201F586A}"/>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22578157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E707D351-01C1-071F-BE0F-DD5E2D89406C}"/>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0CCB6805-B124-917F-DB2D-7D7EBF99BC2A}"/>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CE778B4E-3277-0594-CD49-A1ECB318BE3F}"/>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3165409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CE2222F4-7965-AEE5-FDDC-F1D6B21CAEB7}"/>
            </a:ext>
          </a:extLst>
        </p:cNvPr>
        <p:cNvGrpSpPr/>
        <p:nvPr/>
      </p:nvGrpSpPr>
      <p:grpSpPr>
        <a:xfrm>
          <a:off x="0" y="0"/>
          <a:ext cx="0" cy="0"/>
          <a:chOff x="0" y="0"/>
          <a:chExt cx="0" cy="0"/>
        </a:xfrm>
      </p:grpSpPr>
      <p:sp>
        <p:nvSpPr>
          <p:cNvPr id="154" name="Google Shape;154;p:notes">
            <a:extLst>
              <a:ext uri="{FF2B5EF4-FFF2-40B4-BE49-F238E27FC236}">
                <a16:creationId xmlns:a16="http://schemas.microsoft.com/office/drawing/2014/main" id="{1CEC0C9A-015F-CCBA-B498-2543B4B20C9E}"/>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5" name="Google Shape;155;p:notes">
            <a:extLst>
              <a:ext uri="{FF2B5EF4-FFF2-40B4-BE49-F238E27FC236}">
                <a16:creationId xmlns:a16="http://schemas.microsoft.com/office/drawing/2014/main" id="{42FEA3D2-5BBB-22FF-8B4F-FE04127F4D1E}"/>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579031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619625"/>
            <a:ext cx="5424000" cy="2388600"/>
          </a:xfrm>
          <a:prstGeom prst="rect">
            <a:avLst/>
          </a:prstGeom>
        </p:spPr>
        <p:txBody>
          <a:bodyPr spcFirstLastPara="1" wrap="square" lIns="91425" tIns="91425" rIns="91425" bIns="91425" anchor="t" anchorCtr="0">
            <a:noAutofit/>
          </a:bodyPr>
          <a:lstStyle>
            <a:lvl1pPr lvl="0">
              <a:spcBef>
                <a:spcPts val="0"/>
              </a:spcBef>
              <a:spcAft>
                <a:spcPts val="0"/>
              </a:spcAft>
              <a:buClr>
                <a:srgbClr val="FFB06E"/>
              </a:buClr>
              <a:buSzPts val="5000"/>
              <a:buNone/>
              <a:defRPr sz="5000">
                <a:solidFill>
                  <a:schemeClr val="accent1"/>
                </a:solidFill>
              </a:defRPr>
            </a:lvl1pPr>
            <a:lvl2pPr lvl="1" algn="ctr">
              <a:spcBef>
                <a:spcPts val="0"/>
              </a:spcBef>
              <a:spcAft>
                <a:spcPts val="0"/>
              </a:spcAft>
              <a:buClr>
                <a:srgbClr val="FFB06E"/>
              </a:buClr>
              <a:buSzPts val="5200"/>
              <a:buNone/>
              <a:defRPr sz="5200">
                <a:solidFill>
                  <a:srgbClr val="FFB06E"/>
                </a:solidFill>
              </a:defRPr>
            </a:lvl2pPr>
            <a:lvl3pPr lvl="2" algn="ctr">
              <a:spcBef>
                <a:spcPts val="0"/>
              </a:spcBef>
              <a:spcAft>
                <a:spcPts val="0"/>
              </a:spcAft>
              <a:buClr>
                <a:srgbClr val="FFB06E"/>
              </a:buClr>
              <a:buSzPts val="5200"/>
              <a:buNone/>
              <a:defRPr sz="5200">
                <a:solidFill>
                  <a:srgbClr val="FFB06E"/>
                </a:solidFill>
              </a:defRPr>
            </a:lvl3pPr>
            <a:lvl4pPr lvl="3" algn="ctr">
              <a:spcBef>
                <a:spcPts val="0"/>
              </a:spcBef>
              <a:spcAft>
                <a:spcPts val="0"/>
              </a:spcAft>
              <a:buClr>
                <a:srgbClr val="FFB06E"/>
              </a:buClr>
              <a:buSzPts val="5200"/>
              <a:buNone/>
              <a:defRPr sz="5200">
                <a:solidFill>
                  <a:srgbClr val="FFB06E"/>
                </a:solidFill>
              </a:defRPr>
            </a:lvl4pPr>
            <a:lvl5pPr lvl="4" algn="ctr">
              <a:spcBef>
                <a:spcPts val="0"/>
              </a:spcBef>
              <a:spcAft>
                <a:spcPts val="0"/>
              </a:spcAft>
              <a:buClr>
                <a:srgbClr val="FFB06E"/>
              </a:buClr>
              <a:buSzPts val="5200"/>
              <a:buNone/>
              <a:defRPr sz="5200">
                <a:solidFill>
                  <a:srgbClr val="FFB06E"/>
                </a:solidFill>
              </a:defRPr>
            </a:lvl5pPr>
            <a:lvl6pPr lvl="5" algn="ctr">
              <a:spcBef>
                <a:spcPts val="0"/>
              </a:spcBef>
              <a:spcAft>
                <a:spcPts val="0"/>
              </a:spcAft>
              <a:buClr>
                <a:srgbClr val="FFB06E"/>
              </a:buClr>
              <a:buSzPts val="5200"/>
              <a:buNone/>
              <a:defRPr sz="5200">
                <a:solidFill>
                  <a:srgbClr val="FFB06E"/>
                </a:solidFill>
              </a:defRPr>
            </a:lvl6pPr>
            <a:lvl7pPr lvl="6" algn="ctr">
              <a:spcBef>
                <a:spcPts val="0"/>
              </a:spcBef>
              <a:spcAft>
                <a:spcPts val="0"/>
              </a:spcAft>
              <a:buClr>
                <a:srgbClr val="FFB06E"/>
              </a:buClr>
              <a:buSzPts val="5200"/>
              <a:buNone/>
              <a:defRPr sz="5200">
                <a:solidFill>
                  <a:srgbClr val="FFB06E"/>
                </a:solidFill>
              </a:defRPr>
            </a:lvl7pPr>
            <a:lvl8pPr lvl="7" algn="ctr">
              <a:spcBef>
                <a:spcPts val="0"/>
              </a:spcBef>
              <a:spcAft>
                <a:spcPts val="0"/>
              </a:spcAft>
              <a:buClr>
                <a:srgbClr val="FFB06E"/>
              </a:buClr>
              <a:buSzPts val="5200"/>
              <a:buNone/>
              <a:defRPr sz="5200">
                <a:solidFill>
                  <a:srgbClr val="FFB06E"/>
                </a:solidFill>
              </a:defRPr>
            </a:lvl8pPr>
            <a:lvl9pPr lvl="8" algn="ctr">
              <a:spcBef>
                <a:spcPts val="0"/>
              </a:spcBef>
              <a:spcAft>
                <a:spcPts val="0"/>
              </a:spcAft>
              <a:buClr>
                <a:srgbClr val="FFB06E"/>
              </a:buClr>
              <a:buSzPts val="5200"/>
              <a:buNone/>
              <a:defRPr sz="5200">
                <a:solidFill>
                  <a:srgbClr val="FFB06E"/>
                </a:solidFill>
              </a:defRPr>
            </a:lvl9pPr>
          </a:lstStyle>
          <a:p>
            <a:endParaRPr/>
          </a:p>
        </p:txBody>
      </p:sp>
      <p:sp>
        <p:nvSpPr>
          <p:cNvPr id="10" name="Google Shape;10;p2"/>
          <p:cNvSpPr txBox="1">
            <a:spLocks noGrp="1"/>
          </p:cNvSpPr>
          <p:nvPr>
            <p:ph type="subTitle" idx="1"/>
          </p:nvPr>
        </p:nvSpPr>
        <p:spPr>
          <a:xfrm>
            <a:off x="720000" y="3062013"/>
            <a:ext cx="2476200" cy="82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Font typeface="Roboto"/>
              <a:buNone/>
              <a:defRPr sz="1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Roboto"/>
              <a:buNone/>
              <a:defRPr sz="2100">
                <a:latin typeface="Roboto"/>
                <a:ea typeface="Roboto"/>
                <a:cs typeface="Roboto"/>
                <a:sym typeface="Roboto"/>
              </a:defRPr>
            </a:lvl1pPr>
            <a:lvl2pPr lvl="1" algn="ctr">
              <a:lnSpc>
                <a:spcPct val="100000"/>
              </a:lnSpc>
              <a:spcBef>
                <a:spcPts val="0"/>
              </a:spcBef>
              <a:spcAft>
                <a:spcPts val="0"/>
              </a:spcAft>
              <a:buSzPts val="2100"/>
              <a:buFont typeface="Roboto"/>
              <a:buNone/>
              <a:defRPr sz="2100">
                <a:latin typeface="Roboto"/>
                <a:ea typeface="Roboto"/>
                <a:cs typeface="Roboto"/>
                <a:sym typeface="Roboto"/>
              </a:defRPr>
            </a:lvl2pPr>
            <a:lvl3pPr lvl="2" algn="ctr">
              <a:lnSpc>
                <a:spcPct val="100000"/>
              </a:lnSpc>
              <a:spcBef>
                <a:spcPts val="0"/>
              </a:spcBef>
              <a:spcAft>
                <a:spcPts val="0"/>
              </a:spcAft>
              <a:buSzPts val="2100"/>
              <a:buFont typeface="Roboto"/>
              <a:buNone/>
              <a:defRPr sz="2100">
                <a:latin typeface="Roboto"/>
                <a:ea typeface="Roboto"/>
                <a:cs typeface="Roboto"/>
                <a:sym typeface="Roboto"/>
              </a:defRPr>
            </a:lvl3pPr>
            <a:lvl4pPr lvl="3" algn="ctr">
              <a:lnSpc>
                <a:spcPct val="100000"/>
              </a:lnSpc>
              <a:spcBef>
                <a:spcPts val="0"/>
              </a:spcBef>
              <a:spcAft>
                <a:spcPts val="0"/>
              </a:spcAft>
              <a:buSzPts val="2100"/>
              <a:buFont typeface="Roboto"/>
              <a:buNone/>
              <a:defRPr sz="2100">
                <a:latin typeface="Roboto"/>
                <a:ea typeface="Roboto"/>
                <a:cs typeface="Roboto"/>
                <a:sym typeface="Roboto"/>
              </a:defRPr>
            </a:lvl4pPr>
            <a:lvl5pPr lvl="4" algn="ctr">
              <a:lnSpc>
                <a:spcPct val="100000"/>
              </a:lnSpc>
              <a:spcBef>
                <a:spcPts val="0"/>
              </a:spcBef>
              <a:spcAft>
                <a:spcPts val="0"/>
              </a:spcAft>
              <a:buSzPts val="2100"/>
              <a:buFont typeface="Roboto"/>
              <a:buNone/>
              <a:defRPr sz="2100">
                <a:latin typeface="Roboto"/>
                <a:ea typeface="Roboto"/>
                <a:cs typeface="Roboto"/>
                <a:sym typeface="Roboto"/>
              </a:defRPr>
            </a:lvl5pPr>
            <a:lvl6pPr lvl="5" algn="ctr">
              <a:lnSpc>
                <a:spcPct val="100000"/>
              </a:lnSpc>
              <a:spcBef>
                <a:spcPts val="0"/>
              </a:spcBef>
              <a:spcAft>
                <a:spcPts val="0"/>
              </a:spcAft>
              <a:buSzPts val="2100"/>
              <a:buFont typeface="Roboto"/>
              <a:buNone/>
              <a:defRPr sz="2100">
                <a:latin typeface="Roboto"/>
                <a:ea typeface="Roboto"/>
                <a:cs typeface="Roboto"/>
                <a:sym typeface="Roboto"/>
              </a:defRPr>
            </a:lvl6pPr>
            <a:lvl7pPr lvl="6" algn="ctr">
              <a:lnSpc>
                <a:spcPct val="100000"/>
              </a:lnSpc>
              <a:spcBef>
                <a:spcPts val="0"/>
              </a:spcBef>
              <a:spcAft>
                <a:spcPts val="0"/>
              </a:spcAft>
              <a:buSzPts val="2100"/>
              <a:buFont typeface="Roboto"/>
              <a:buNone/>
              <a:defRPr sz="2100">
                <a:latin typeface="Roboto"/>
                <a:ea typeface="Roboto"/>
                <a:cs typeface="Roboto"/>
                <a:sym typeface="Roboto"/>
              </a:defRPr>
            </a:lvl7pPr>
            <a:lvl8pPr lvl="7" algn="ctr">
              <a:lnSpc>
                <a:spcPct val="100000"/>
              </a:lnSpc>
              <a:spcBef>
                <a:spcPts val="0"/>
              </a:spcBef>
              <a:spcAft>
                <a:spcPts val="0"/>
              </a:spcAft>
              <a:buSzPts val="2100"/>
              <a:buFont typeface="Roboto"/>
              <a:buNone/>
              <a:defRPr sz="2100">
                <a:latin typeface="Roboto"/>
                <a:ea typeface="Roboto"/>
                <a:cs typeface="Roboto"/>
                <a:sym typeface="Roboto"/>
              </a:defRPr>
            </a:lvl8pPr>
            <a:lvl9pPr lvl="8" algn="ctr">
              <a:lnSpc>
                <a:spcPct val="100000"/>
              </a:lnSpc>
              <a:spcBef>
                <a:spcPts val="0"/>
              </a:spcBef>
              <a:spcAft>
                <a:spcPts val="0"/>
              </a:spcAft>
              <a:buSzPts val="2100"/>
              <a:buFont typeface="Roboto"/>
              <a:buNone/>
              <a:defRPr sz="2100">
                <a:latin typeface="Roboto"/>
                <a:ea typeface="Roboto"/>
                <a:cs typeface="Roboto"/>
                <a:sym typeface="Roboto"/>
              </a:defRPr>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Font typeface="Roboto"/>
              <a:buChar char="●"/>
              <a:defRPr>
                <a:latin typeface="Roboto"/>
                <a:ea typeface="Roboto"/>
                <a:cs typeface="Roboto"/>
                <a:sym typeface="Roboto"/>
              </a:defRPr>
            </a:lvl1pPr>
            <a:lvl2pPr marL="914400" lvl="1" indent="-317500">
              <a:spcBef>
                <a:spcPts val="1600"/>
              </a:spcBef>
              <a:spcAft>
                <a:spcPts val="0"/>
              </a:spcAft>
              <a:buSzPts val="1400"/>
              <a:buFont typeface="Roboto"/>
              <a:buChar char="○"/>
              <a:defRPr>
                <a:latin typeface="Roboto"/>
                <a:ea typeface="Roboto"/>
                <a:cs typeface="Roboto"/>
                <a:sym typeface="Roboto"/>
              </a:defRPr>
            </a:lvl2pPr>
            <a:lvl3pPr marL="1371600" lvl="2" indent="-317500">
              <a:spcBef>
                <a:spcPts val="1600"/>
              </a:spcBef>
              <a:spcAft>
                <a:spcPts val="0"/>
              </a:spcAft>
              <a:buSzPts val="1400"/>
              <a:buFont typeface="Roboto"/>
              <a:buChar char="■"/>
              <a:defRPr>
                <a:latin typeface="Roboto"/>
                <a:ea typeface="Roboto"/>
                <a:cs typeface="Roboto"/>
                <a:sym typeface="Roboto"/>
              </a:defRPr>
            </a:lvl3pPr>
            <a:lvl4pPr marL="1828800" lvl="3" indent="-317500">
              <a:spcBef>
                <a:spcPts val="1600"/>
              </a:spcBef>
              <a:spcAft>
                <a:spcPts val="0"/>
              </a:spcAft>
              <a:buSzPts val="1400"/>
              <a:buFont typeface="Roboto"/>
              <a:buChar char="●"/>
              <a:defRPr>
                <a:latin typeface="Roboto"/>
                <a:ea typeface="Roboto"/>
                <a:cs typeface="Roboto"/>
                <a:sym typeface="Roboto"/>
              </a:defRPr>
            </a:lvl4pPr>
            <a:lvl5pPr marL="2286000" lvl="4" indent="-317500">
              <a:spcBef>
                <a:spcPts val="1600"/>
              </a:spcBef>
              <a:spcAft>
                <a:spcPts val="0"/>
              </a:spcAft>
              <a:buSzPts val="1400"/>
              <a:buFont typeface="Roboto"/>
              <a:buChar char="○"/>
              <a:defRPr>
                <a:latin typeface="Roboto"/>
                <a:ea typeface="Roboto"/>
                <a:cs typeface="Roboto"/>
                <a:sym typeface="Roboto"/>
              </a:defRPr>
            </a:lvl5pPr>
            <a:lvl6pPr marL="2743200" lvl="5" indent="-317500">
              <a:spcBef>
                <a:spcPts val="1600"/>
              </a:spcBef>
              <a:spcAft>
                <a:spcPts val="0"/>
              </a:spcAft>
              <a:buSzPts val="1400"/>
              <a:buFont typeface="Roboto"/>
              <a:buChar char="■"/>
              <a:defRPr>
                <a:latin typeface="Roboto"/>
                <a:ea typeface="Roboto"/>
                <a:cs typeface="Roboto"/>
                <a:sym typeface="Roboto"/>
              </a:defRPr>
            </a:lvl6pPr>
            <a:lvl7pPr marL="3200400" lvl="6" indent="-317500">
              <a:spcBef>
                <a:spcPts val="1600"/>
              </a:spcBef>
              <a:spcAft>
                <a:spcPts val="0"/>
              </a:spcAft>
              <a:buSzPts val="1400"/>
              <a:buFont typeface="Roboto"/>
              <a:buChar char="●"/>
              <a:defRPr>
                <a:latin typeface="Roboto"/>
                <a:ea typeface="Roboto"/>
                <a:cs typeface="Roboto"/>
                <a:sym typeface="Roboto"/>
              </a:defRPr>
            </a:lvl7pPr>
            <a:lvl8pPr marL="3657600" lvl="7" indent="-317500">
              <a:spcBef>
                <a:spcPts val="1600"/>
              </a:spcBef>
              <a:spcAft>
                <a:spcPts val="0"/>
              </a:spcAft>
              <a:buSzPts val="1400"/>
              <a:buFont typeface="Roboto"/>
              <a:buChar char="○"/>
              <a:defRPr>
                <a:latin typeface="Roboto"/>
                <a:ea typeface="Roboto"/>
                <a:cs typeface="Roboto"/>
                <a:sym typeface="Roboto"/>
              </a:defRPr>
            </a:lvl8pPr>
            <a:lvl9pPr marL="4114800" lvl="8" indent="-317500">
              <a:spcBef>
                <a:spcPts val="1600"/>
              </a:spcBef>
              <a:spcAft>
                <a:spcPts val="1600"/>
              </a:spcAft>
              <a:buSzPts val="1400"/>
              <a:buFont typeface="Roboto"/>
              <a:buChar char="■"/>
              <a:defRPr>
                <a:latin typeface="Roboto"/>
                <a:ea typeface="Roboto"/>
                <a:cs typeface="Roboto"/>
                <a:sym typeface="Robot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title"/>
          </p:nvPr>
        </p:nvSpPr>
        <p:spPr>
          <a:xfrm>
            <a:off x="1909450" y="540000"/>
            <a:ext cx="5370600" cy="22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43"/>
        <p:cNvGrpSpPr/>
        <p:nvPr/>
      </p:nvGrpSpPr>
      <p:grpSpPr>
        <a:xfrm>
          <a:off x="0" y="0"/>
          <a:ext cx="0" cy="0"/>
          <a:chOff x="0" y="0"/>
          <a:chExt cx="0" cy="0"/>
        </a:xfrm>
      </p:grpSpPr>
      <p:sp>
        <p:nvSpPr>
          <p:cNvPr id="144" name="Google Shape;144;p26"/>
          <p:cNvSpPr/>
          <p:nvPr/>
        </p:nvSpPr>
        <p:spPr>
          <a:xfrm flipH="1">
            <a:off x="-29400" y="-37700"/>
            <a:ext cx="2133600" cy="5218908"/>
          </a:xfrm>
          <a:custGeom>
            <a:avLst/>
            <a:gdLst/>
            <a:ahLst/>
            <a:cxnLst/>
            <a:rect l="l" t="t" r="r" b="b"/>
            <a:pathLst>
              <a:path w="85344" h="207264" extrusionOk="0">
                <a:moveTo>
                  <a:pt x="0" y="0"/>
                </a:moveTo>
                <a:lnTo>
                  <a:pt x="85344" y="1524"/>
                </a:lnTo>
                <a:lnTo>
                  <a:pt x="85344" y="207264"/>
                </a:lnTo>
                <a:lnTo>
                  <a:pt x="28194" y="207264"/>
                </a:lnTo>
                <a:close/>
              </a:path>
            </a:pathLst>
          </a:custGeom>
          <a:solidFill>
            <a:schemeClr val="accent1"/>
          </a:solidFill>
          <a:ln>
            <a:no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3">
  <p:cSld name="CUSTOM_9_1_1">
    <p:spTree>
      <p:nvGrpSpPr>
        <p:cNvPr id="1" name="Shape 147"/>
        <p:cNvGrpSpPr/>
        <p:nvPr/>
      </p:nvGrpSpPr>
      <p:grpSpPr>
        <a:xfrm>
          <a:off x="0" y="0"/>
          <a:ext cx="0" cy="0"/>
          <a:chOff x="0" y="0"/>
          <a:chExt cx="0" cy="0"/>
        </a:xfrm>
      </p:grpSpPr>
      <p:sp>
        <p:nvSpPr>
          <p:cNvPr id="148" name="Google Shape;148;p28"/>
          <p:cNvSpPr/>
          <p:nvPr/>
        </p:nvSpPr>
        <p:spPr>
          <a:xfrm rot="10800000">
            <a:off x="-29399" y="0"/>
            <a:ext cx="719988" cy="5158515"/>
          </a:xfrm>
          <a:custGeom>
            <a:avLst/>
            <a:gdLst/>
            <a:ahLst/>
            <a:cxnLst/>
            <a:rect l="l" t="t" r="r" b="b"/>
            <a:pathLst>
              <a:path w="30772" h="209016" extrusionOk="0">
                <a:moveTo>
                  <a:pt x="0" y="0"/>
                </a:moveTo>
                <a:lnTo>
                  <a:pt x="30771" y="209016"/>
                </a:lnTo>
                <a:lnTo>
                  <a:pt x="307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71275"/>
            <a:ext cx="8112300" cy="1830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666666"/>
              </a:buClr>
              <a:buSzPts val="2500"/>
              <a:buFont typeface="Montserrat"/>
              <a:buNone/>
              <a:defRPr sz="2500" b="1">
                <a:solidFill>
                  <a:srgbClr val="666666"/>
                </a:solidFill>
                <a:latin typeface="Montserrat"/>
                <a:ea typeface="Montserrat"/>
                <a:cs typeface="Montserrat"/>
                <a:sym typeface="Montserrat"/>
              </a:defRPr>
            </a:lvl1pPr>
            <a:lvl2pPr lvl="1">
              <a:spcBef>
                <a:spcPts val="0"/>
              </a:spcBef>
              <a:spcAft>
                <a:spcPts val="0"/>
              </a:spcAft>
              <a:buClr>
                <a:srgbClr val="666666"/>
              </a:buClr>
              <a:buSzPts val="2800"/>
              <a:buNone/>
              <a:defRPr sz="2800">
                <a:solidFill>
                  <a:srgbClr val="666666"/>
                </a:solidFill>
              </a:defRPr>
            </a:lvl2pPr>
            <a:lvl3pPr lvl="2">
              <a:spcBef>
                <a:spcPts val="0"/>
              </a:spcBef>
              <a:spcAft>
                <a:spcPts val="0"/>
              </a:spcAft>
              <a:buClr>
                <a:srgbClr val="666666"/>
              </a:buClr>
              <a:buSzPts val="2800"/>
              <a:buNone/>
              <a:defRPr sz="2800">
                <a:solidFill>
                  <a:srgbClr val="666666"/>
                </a:solidFill>
              </a:defRPr>
            </a:lvl3pPr>
            <a:lvl4pPr lvl="3">
              <a:spcBef>
                <a:spcPts val="0"/>
              </a:spcBef>
              <a:spcAft>
                <a:spcPts val="0"/>
              </a:spcAft>
              <a:buClr>
                <a:srgbClr val="666666"/>
              </a:buClr>
              <a:buSzPts val="2800"/>
              <a:buNone/>
              <a:defRPr sz="2800">
                <a:solidFill>
                  <a:srgbClr val="666666"/>
                </a:solidFill>
              </a:defRPr>
            </a:lvl4pPr>
            <a:lvl5pPr lvl="4">
              <a:spcBef>
                <a:spcPts val="0"/>
              </a:spcBef>
              <a:spcAft>
                <a:spcPts val="0"/>
              </a:spcAft>
              <a:buClr>
                <a:srgbClr val="666666"/>
              </a:buClr>
              <a:buSzPts val="2800"/>
              <a:buNone/>
              <a:defRPr sz="2800">
                <a:solidFill>
                  <a:srgbClr val="666666"/>
                </a:solidFill>
              </a:defRPr>
            </a:lvl5pPr>
            <a:lvl6pPr lvl="5">
              <a:spcBef>
                <a:spcPts val="0"/>
              </a:spcBef>
              <a:spcAft>
                <a:spcPts val="0"/>
              </a:spcAft>
              <a:buClr>
                <a:srgbClr val="666666"/>
              </a:buClr>
              <a:buSzPts val="2800"/>
              <a:buNone/>
              <a:defRPr sz="2800">
                <a:solidFill>
                  <a:srgbClr val="666666"/>
                </a:solidFill>
              </a:defRPr>
            </a:lvl6pPr>
            <a:lvl7pPr lvl="6">
              <a:spcBef>
                <a:spcPts val="0"/>
              </a:spcBef>
              <a:spcAft>
                <a:spcPts val="0"/>
              </a:spcAft>
              <a:buClr>
                <a:srgbClr val="666666"/>
              </a:buClr>
              <a:buSzPts val="2800"/>
              <a:buNone/>
              <a:defRPr sz="2800">
                <a:solidFill>
                  <a:srgbClr val="666666"/>
                </a:solidFill>
              </a:defRPr>
            </a:lvl7pPr>
            <a:lvl8pPr lvl="7">
              <a:spcBef>
                <a:spcPts val="0"/>
              </a:spcBef>
              <a:spcAft>
                <a:spcPts val="0"/>
              </a:spcAft>
              <a:buClr>
                <a:srgbClr val="666666"/>
              </a:buClr>
              <a:buSzPts val="2800"/>
              <a:buNone/>
              <a:defRPr sz="2800">
                <a:solidFill>
                  <a:srgbClr val="666666"/>
                </a:solidFill>
              </a:defRPr>
            </a:lvl8pPr>
            <a:lvl9pPr lvl="8">
              <a:spcBef>
                <a:spcPts val="0"/>
              </a:spcBef>
              <a:spcAft>
                <a:spcPts val="0"/>
              </a:spcAft>
              <a:buClr>
                <a:srgbClr val="666666"/>
              </a:buClr>
              <a:buSzPts val="2800"/>
              <a:buNone/>
              <a:defRPr sz="2800">
                <a:solidFill>
                  <a:srgbClr val="666666"/>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1pPr>
            <a:lvl2pPr marL="914400" lvl="1"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2pPr>
            <a:lvl3pPr marL="1371600" lvl="2"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3pPr>
            <a:lvl4pPr marL="1828800" lvl="3"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4pPr>
            <a:lvl5pPr marL="2286000" lvl="4"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5pPr>
            <a:lvl6pPr marL="2743200" lvl="5"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6pPr>
            <a:lvl7pPr marL="3200400" lvl="6"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7pPr>
            <a:lvl8pPr marL="3657600" lvl="7" indent="-317500">
              <a:lnSpc>
                <a:spcPct val="115000"/>
              </a:lnSpc>
              <a:spcBef>
                <a:spcPts val="1600"/>
              </a:spcBef>
              <a:spcAft>
                <a:spcPts val="0"/>
              </a:spcAft>
              <a:buClr>
                <a:srgbClr val="666666"/>
              </a:buClr>
              <a:buSzPts val="1400"/>
              <a:buFont typeface="Roboto Light"/>
              <a:buChar char="○"/>
              <a:defRPr>
                <a:solidFill>
                  <a:srgbClr val="666666"/>
                </a:solidFill>
                <a:latin typeface="Roboto Light"/>
                <a:ea typeface="Roboto Light"/>
                <a:cs typeface="Roboto Light"/>
                <a:sym typeface="Roboto Light"/>
              </a:defRPr>
            </a:lvl8pPr>
            <a:lvl9pPr marL="4114800" lvl="8" indent="-317500">
              <a:lnSpc>
                <a:spcPct val="115000"/>
              </a:lnSpc>
              <a:spcBef>
                <a:spcPts val="1600"/>
              </a:spcBef>
              <a:spcAft>
                <a:spcPts val="1600"/>
              </a:spcAft>
              <a:buClr>
                <a:srgbClr val="666666"/>
              </a:buClr>
              <a:buSzPts val="1400"/>
              <a:buFont typeface="Roboto Light"/>
              <a:buChar char="■"/>
              <a:defRPr>
                <a:solidFill>
                  <a:srgbClr val="666666"/>
                </a:solidFill>
                <a:latin typeface="Roboto Light"/>
                <a:ea typeface="Roboto Light"/>
                <a:cs typeface="Roboto Light"/>
                <a:sym typeface="Robot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6" r:id="rId3"/>
    <p:sldLayoutId id="2147483658" r:id="rId4"/>
    <p:sldLayoutId id="2147483672" r:id="rId5"/>
    <p:sldLayoutId id="214748367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4.jpg"/><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6.jpg"/><Relationship Id="rId4" Type="http://schemas.openxmlformats.org/officeDocument/2006/relationships/image" Target="../media/image25.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22" name="Picture 21">
            <a:extLst>
              <a:ext uri="{FF2B5EF4-FFF2-40B4-BE49-F238E27FC236}">
                <a16:creationId xmlns:a16="http://schemas.microsoft.com/office/drawing/2014/main" id="{51451342-7B7B-4218-9C11-12B4749ADAD9}"/>
              </a:ext>
            </a:extLst>
          </p:cNvPr>
          <p:cNvPicPr>
            <a:picLocks noChangeAspect="1"/>
          </p:cNvPicPr>
          <p:nvPr/>
        </p:nvPicPr>
        <p:blipFill rotWithShape="1">
          <a:blip r:embed="rId3"/>
          <a:srcRect l="17746" r="26985" b="12239"/>
          <a:stretch/>
        </p:blipFill>
        <p:spPr>
          <a:xfrm>
            <a:off x="4488180" y="0"/>
            <a:ext cx="4655821" cy="5143500"/>
          </a:xfrm>
          <a:prstGeom prst="rect">
            <a:avLst/>
          </a:prstGeom>
        </p:spPr>
      </p:pic>
      <p:sp>
        <p:nvSpPr>
          <p:cNvPr id="158" name="Google Shape;158;p31"/>
          <p:cNvSpPr txBox="1">
            <a:spLocks noGrp="1"/>
          </p:cNvSpPr>
          <p:nvPr>
            <p:ph type="ctrTitle"/>
          </p:nvPr>
        </p:nvSpPr>
        <p:spPr>
          <a:xfrm>
            <a:off x="224900" y="1495787"/>
            <a:ext cx="4790853" cy="164410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200" dirty="0">
                <a:solidFill>
                  <a:srgbClr val="003F7E"/>
                </a:solidFill>
              </a:rPr>
              <a:t>VISCON </a:t>
            </a:r>
            <a:br>
              <a:rPr lang="en-US" sz="3200" dirty="0">
                <a:solidFill>
                  <a:srgbClr val="003F7E"/>
                </a:solidFill>
              </a:rPr>
            </a:br>
            <a:r>
              <a:rPr lang="en-US" sz="3200" dirty="0">
                <a:solidFill>
                  <a:srgbClr val="003F7E"/>
                </a:solidFill>
              </a:rPr>
              <a:t>ENGINEERING </a:t>
            </a:r>
            <a:br>
              <a:rPr lang="en-US" dirty="0">
                <a:solidFill>
                  <a:srgbClr val="003F7E"/>
                </a:solidFill>
              </a:rPr>
            </a:br>
            <a:r>
              <a:rPr lang="en-US" sz="1600" dirty="0">
                <a:solidFill>
                  <a:srgbClr val="0070C0"/>
                </a:solidFill>
              </a:rPr>
              <a:t>COMPANY PROFILE </a:t>
            </a:r>
            <a:endParaRPr sz="1600" dirty="0">
              <a:solidFill>
                <a:srgbClr val="0070C0"/>
              </a:solidFill>
            </a:endParaRPr>
          </a:p>
        </p:txBody>
      </p:sp>
      <p:sp>
        <p:nvSpPr>
          <p:cNvPr id="8" name="Google Shape;170;p26">
            <a:extLst>
              <a:ext uri="{FF2B5EF4-FFF2-40B4-BE49-F238E27FC236}">
                <a16:creationId xmlns:a16="http://schemas.microsoft.com/office/drawing/2014/main" id="{29D679CB-514E-430A-BE69-3D9D8ED8356B}"/>
              </a:ext>
            </a:extLst>
          </p:cNvPr>
          <p:cNvSpPr txBox="1">
            <a:spLocks noGrp="1"/>
          </p:cNvSpPr>
          <p:nvPr>
            <p:ph type="subTitle" idx="1"/>
          </p:nvPr>
        </p:nvSpPr>
        <p:spPr>
          <a:xfrm>
            <a:off x="356347" y="3467759"/>
            <a:ext cx="3748331" cy="828675"/>
          </a:xfrm>
          <a:prstGeom prst="rect">
            <a:avLst/>
          </a:prstGeom>
        </p:spPr>
        <p:txBody>
          <a:bodyPr spcFirstLastPara="1" wrap="square" lIns="91425" tIns="91425" rIns="91425" bIns="91425" anchor="ctr" anchorCtr="0">
            <a:noAutofit/>
          </a:bodyPr>
          <a:lstStyle/>
          <a:p>
            <a:pPr marL="0" lvl="0" indent="0" algn="ctr"/>
            <a:r>
              <a:rPr lang="en" sz="1400" dirty="0"/>
              <a:t>“</a:t>
            </a:r>
            <a:r>
              <a:rPr lang="en-US" sz="1400" dirty="0"/>
              <a:t>BEYOND CONSTRUCTION, TURNING VISION INTO REALITY THROUGH SMART TECHNOLOGY”</a:t>
            </a:r>
            <a:endParaRPr sz="1400" dirty="0"/>
          </a:p>
        </p:txBody>
      </p:sp>
      <p:pic>
        <p:nvPicPr>
          <p:cNvPr id="3" name="Picture 2">
            <a:extLst>
              <a:ext uri="{FF2B5EF4-FFF2-40B4-BE49-F238E27FC236}">
                <a16:creationId xmlns:a16="http://schemas.microsoft.com/office/drawing/2014/main" id="{E91A8911-7BA5-4175-A2F1-A0EA825C996E}"/>
              </a:ext>
            </a:extLst>
          </p:cNvPr>
          <p:cNvPicPr>
            <a:picLocks noChangeAspect="1"/>
          </p:cNvPicPr>
          <p:nvPr/>
        </p:nvPicPr>
        <p:blipFill>
          <a:blip r:embed="rId4"/>
          <a:stretch>
            <a:fillRect/>
          </a:stretch>
        </p:blipFill>
        <p:spPr>
          <a:xfrm>
            <a:off x="224900" y="256793"/>
            <a:ext cx="960122" cy="1170434"/>
          </a:xfrm>
          <a:prstGeom prst="rect">
            <a:avLst/>
          </a:prstGeom>
        </p:spPr>
      </p:pic>
      <p:sp>
        <p:nvSpPr>
          <p:cNvPr id="4" name="TextBox 3">
            <a:extLst>
              <a:ext uri="{FF2B5EF4-FFF2-40B4-BE49-F238E27FC236}">
                <a16:creationId xmlns:a16="http://schemas.microsoft.com/office/drawing/2014/main" id="{EC80A073-B21C-37DB-0B20-262353B247AC}"/>
              </a:ext>
            </a:extLst>
          </p:cNvPr>
          <p:cNvSpPr txBox="1"/>
          <p:nvPr/>
        </p:nvSpPr>
        <p:spPr>
          <a:xfrm>
            <a:off x="65610" y="4624305"/>
            <a:ext cx="4230819" cy="461665"/>
          </a:xfrm>
          <a:prstGeom prst="rect">
            <a:avLst/>
          </a:prstGeom>
          <a:noFill/>
        </p:spPr>
        <p:txBody>
          <a:bodyPr wrap="square">
            <a:spAutoFit/>
          </a:bodyPr>
          <a:lstStyle/>
          <a:p>
            <a:r>
              <a:rPr lang="en-US" sz="800" dirty="0">
                <a:solidFill>
                  <a:schemeClr val="tx1">
                    <a:lumMod val="95000"/>
                    <a:lumOff val="5000"/>
                  </a:schemeClr>
                </a:solidFill>
              </a:rPr>
              <a:t>Head office :   F-98 First Floor, Gulberg Heights, Gulberg Green, Islamabad</a:t>
            </a:r>
          </a:p>
          <a:p>
            <a:r>
              <a:rPr lang="en-US" sz="800" dirty="0">
                <a:solidFill>
                  <a:schemeClr val="tx1">
                    <a:lumMod val="95000"/>
                    <a:lumOff val="5000"/>
                  </a:schemeClr>
                </a:solidFill>
              </a:rPr>
              <a:t>Branch office: House No 2163, Street Neem wali opposite state life building D-I-Khan. </a:t>
            </a:r>
          </a:p>
          <a:p>
            <a:r>
              <a:rPr lang="en-US" sz="800" dirty="0">
                <a:solidFill>
                  <a:schemeClr val="tx1">
                    <a:lumMod val="95000"/>
                    <a:lumOff val="5000"/>
                  </a:schemeClr>
                </a:solidFill>
              </a:rPr>
              <a:t>Contact :  0345,4696064, 0331-4380321 , </a:t>
            </a:r>
          </a:p>
        </p:txBody>
      </p:sp>
    </p:spTree>
    <p:extLst>
      <p:ext uri="{BB962C8B-B14F-4D97-AF65-F5344CB8AC3E}">
        <p14:creationId xmlns:p14="http://schemas.microsoft.com/office/powerpoint/2010/main" val="1747860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047562" y="815797"/>
            <a:ext cx="5469200" cy="64031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solidFill>
                  <a:srgbClr val="003F7E"/>
                </a:solidFill>
              </a:rPr>
              <a:t>VISCON ENGINEERING </a:t>
            </a:r>
            <a:endParaRPr sz="2400" dirty="0">
              <a:solidFill>
                <a:srgbClr val="003F7E"/>
              </a:solidFill>
            </a:endParaRPr>
          </a:p>
        </p:txBody>
      </p:sp>
      <p:sp>
        <p:nvSpPr>
          <p:cNvPr id="8" name="Google Shape;170;p26">
            <a:extLst>
              <a:ext uri="{FF2B5EF4-FFF2-40B4-BE49-F238E27FC236}">
                <a16:creationId xmlns:a16="http://schemas.microsoft.com/office/drawing/2014/main" id="{29D679CB-514E-430A-BE69-3D9D8ED8356B}"/>
              </a:ext>
            </a:extLst>
          </p:cNvPr>
          <p:cNvSpPr txBox="1">
            <a:spLocks noGrp="1"/>
          </p:cNvSpPr>
          <p:nvPr>
            <p:ph type="subTitle" idx="1"/>
          </p:nvPr>
        </p:nvSpPr>
        <p:spPr>
          <a:xfrm>
            <a:off x="531159" y="1456112"/>
            <a:ext cx="6911788" cy="3344487"/>
          </a:xfrm>
          <a:prstGeom prst="rect">
            <a:avLst/>
          </a:prstGeom>
        </p:spPr>
        <p:txBody>
          <a:bodyPr spcFirstLastPara="1" wrap="square" lIns="91425" tIns="91425" rIns="91425" bIns="91425" anchor="ctr" anchorCtr="0">
            <a:noAutofit/>
          </a:bodyPr>
          <a:lstStyle/>
          <a:p>
            <a:pPr algn="just"/>
            <a:r>
              <a:rPr lang="en-US" sz="1100" dirty="0">
                <a:solidFill>
                  <a:schemeClr val="tx1"/>
                </a:solidFill>
                <a:highlight>
                  <a:srgbClr val="FFFFFF"/>
                </a:highlight>
                <a:latin typeface="Calisto MT" panose="02040603050505030304" pitchFamily="18" charset="0"/>
              </a:rPr>
              <a:t>To bring innovation and new perspectives to the world of engineering and construction, lead through</a:t>
            </a:r>
          </a:p>
          <a:p>
            <a:pPr algn="just"/>
            <a:r>
              <a:rPr lang="en-US" sz="1100" dirty="0">
                <a:solidFill>
                  <a:schemeClr val="tx1"/>
                </a:solidFill>
                <a:highlight>
                  <a:srgbClr val="FFFFFF"/>
                </a:highlight>
                <a:latin typeface="Calisto MT" panose="02040603050505030304" pitchFamily="18" charset="0"/>
              </a:rPr>
              <a:t>technological advancement, sustainable design, and engineering excellence, delivering intelligent, high</a:t>
            </a:r>
          </a:p>
          <a:p>
            <a:pPr algn="just"/>
            <a:r>
              <a:rPr lang="en-US" sz="1100" dirty="0">
                <a:solidFill>
                  <a:schemeClr val="tx1"/>
                </a:solidFill>
                <a:highlight>
                  <a:srgbClr val="FFFFFF"/>
                </a:highlight>
                <a:latin typeface="Calisto MT" panose="02040603050505030304" pitchFamily="18" charset="0"/>
              </a:rPr>
              <a:t>performance solutions across residential, commercial, and industrial sectors that improve the quality of</a:t>
            </a:r>
          </a:p>
          <a:p>
            <a:pPr algn="just"/>
            <a:r>
              <a:rPr lang="en-US" sz="1100" dirty="0">
                <a:solidFill>
                  <a:schemeClr val="tx1"/>
                </a:solidFill>
                <a:highlight>
                  <a:srgbClr val="FFFFFF"/>
                </a:highlight>
                <a:latin typeface="Calisto MT" panose="02040603050505030304" pitchFamily="18" charset="0"/>
              </a:rPr>
              <a:t>life and inspire progress.</a:t>
            </a:r>
          </a:p>
          <a:p>
            <a:endParaRPr lang="en-US" sz="1100" dirty="0">
              <a:solidFill>
                <a:schemeClr val="tx1"/>
              </a:solidFill>
              <a:highlight>
                <a:srgbClr val="FFFFFF"/>
              </a:highlight>
              <a:latin typeface="Calisto MT" panose="02040603050505030304" pitchFamily="18" charset="0"/>
            </a:endParaRPr>
          </a:p>
          <a:p>
            <a:r>
              <a:rPr lang="en-US" sz="1100" dirty="0" err="1">
                <a:solidFill>
                  <a:schemeClr val="tx1"/>
                </a:solidFill>
                <a:highlight>
                  <a:srgbClr val="FFFFFF"/>
                </a:highlight>
                <a:latin typeface="Calisto MT" panose="02040603050505030304" pitchFamily="18" charset="0"/>
              </a:rPr>
              <a:t>Viscon</a:t>
            </a:r>
            <a:r>
              <a:rPr lang="en-US" sz="1100" dirty="0">
                <a:solidFill>
                  <a:schemeClr val="tx1"/>
                </a:solidFill>
                <a:highlight>
                  <a:srgbClr val="FFFFFF"/>
                </a:highlight>
                <a:latin typeface="Calisto MT" panose="02040603050505030304" pitchFamily="18" charset="0"/>
              </a:rPr>
              <a:t> Engineering is to deliver technology-driven engineering and construction solutions that</a:t>
            </a:r>
          </a:p>
          <a:p>
            <a:r>
              <a:rPr lang="en-US" sz="1100" dirty="0">
                <a:solidFill>
                  <a:schemeClr val="tx1"/>
                </a:solidFill>
                <a:highlight>
                  <a:srgbClr val="FFFFFF"/>
                </a:highlight>
                <a:latin typeface="Calisto MT" panose="02040603050505030304" pitchFamily="18" charset="0"/>
              </a:rPr>
              <a:t>integrate civil structure works, architectural finishing, MEP systems, Chemical water proofing and</a:t>
            </a:r>
          </a:p>
          <a:p>
            <a:r>
              <a:rPr lang="en-US" sz="1100" dirty="0">
                <a:solidFill>
                  <a:schemeClr val="tx1"/>
                </a:solidFill>
                <a:highlight>
                  <a:srgbClr val="FFFFFF"/>
                </a:highlight>
                <a:latin typeface="Calisto MT" panose="02040603050505030304" pitchFamily="18" charset="0"/>
              </a:rPr>
              <a:t>Intelligent Building Management Systems (IBMS) under a unified framework.</a:t>
            </a:r>
          </a:p>
          <a:p>
            <a:r>
              <a:rPr lang="en-US" sz="1100" dirty="0">
                <a:solidFill>
                  <a:schemeClr val="tx1"/>
                </a:solidFill>
                <a:highlight>
                  <a:srgbClr val="FFFFFF"/>
                </a:highlight>
                <a:latin typeface="Calisto MT" panose="02040603050505030304" pitchFamily="18" charset="0"/>
              </a:rPr>
              <a:t>We are dedicated to:</a:t>
            </a:r>
          </a:p>
          <a:p>
            <a:pPr marL="139700" lvl="0" indent="0"/>
            <a:r>
              <a:rPr lang="en-US" sz="1100" dirty="0">
                <a:solidFill>
                  <a:schemeClr val="tx1"/>
                </a:solidFill>
                <a:highlight>
                  <a:srgbClr val="FFFFFF"/>
                </a:highlight>
                <a:latin typeface="Calisto MT" panose="02040603050505030304" pitchFamily="18" charset="0"/>
              </a:rPr>
              <a:t>Advancing the engineering landscape through innovation, precision, and continuous improvement.</a:t>
            </a:r>
          </a:p>
          <a:p>
            <a:pPr lvl="0">
              <a:buFont typeface="Arial" panose="020B0604020202020204" pitchFamily="34" charset="0"/>
              <a:buChar char="•"/>
            </a:pPr>
            <a:r>
              <a:rPr lang="en-US" sz="1100" dirty="0">
                <a:solidFill>
                  <a:schemeClr val="tx1"/>
                </a:solidFill>
                <a:highlight>
                  <a:srgbClr val="FFFFFF"/>
                </a:highlight>
                <a:latin typeface="Calisto MT" panose="02040603050505030304" pitchFamily="18" charset="0"/>
              </a:rPr>
              <a:t>Designing and implementing sustainable, energy-efficient systems that enhance functionality and</a:t>
            </a:r>
          </a:p>
          <a:p>
            <a:pPr lvl="0">
              <a:buFont typeface="Arial" panose="020B0604020202020204" pitchFamily="34" charset="0"/>
              <a:buChar char="•"/>
            </a:pPr>
            <a:r>
              <a:rPr lang="en-US" sz="1100" dirty="0">
                <a:solidFill>
                  <a:schemeClr val="tx1"/>
                </a:solidFill>
                <a:highlight>
                  <a:srgbClr val="FFFFFF"/>
                </a:highlight>
                <a:latin typeface="Calisto MT" panose="02040603050505030304" pitchFamily="18" charset="0"/>
              </a:rPr>
              <a:t>longevity.</a:t>
            </a:r>
          </a:p>
          <a:p>
            <a:pPr lvl="0">
              <a:buFont typeface="Arial" panose="020B0604020202020204" pitchFamily="34" charset="0"/>
              <a:buChar char="•"/>
            </a:pPr>
            <a:r>
              <a:rPr lang="en-US" sz="1100" dirty="0">
                <a:solidFill>
                  <a:schemeClr val="tx1"/>
                </a:solidFill>
                <a:highlight>
                  <a:srgbClr val="FFFFFF"/>
                </a:highlight>
                <a:latin typeface="Calisto MT" panose="02040603050505030304" pitchFamily="18" charset="0"/>
              </a:rPr>
              <a:t>Executing projects with technical integrity, safety, and superior quality  standards.</a:t>
            </a:r>
          </a:p>
          <a:p>
            <a:pPr lvl="0">
              <a:buFont typeface="Arial" panose="020B0604020202020204" pitchFamily="34" charset="0"/>
              <a:buChar char="•"/>
            </a:pPr>
            <a:r>
              <a:rPr lang="en-US" sz="1100" dirty="0">
                <a:solidFill>
                  <a:schemeClr val="tx1"/>
                </a:solidFill>
                <a:highlight>
                  <a:srgbClr val="FFFFFF"/>
                </a:highlight>
                <a:latin typeface="Calisto MT" panose="02040603050505030304" pitchFamily="18" charset="0"/>
              </a:rPr>
              <a:t>Applying modern construction technologies to optimize performance and resource utilization.</a:t>
            </a:r>
          </a:p>
          <a:p>
            <a:pPr lvl="0">
              <a:buFont typeface="Arial" panose="020B0604020202020204" pitchFamily="34" charset="0"/>
              <a:buChar char="•"/>
            </a:pPr>
            <a:r>
              <a:rPr lang="en-US" sz="1100" dirty="0">
                <a:solidFill>
                  <a:schemeClr val="tx1"/>
                </a:solidFill>
                <a:highlight>
                  <a:srgbClr val="FFFFFF"/>
                </a:highlight>
                <a:latin typeface="Calisto MT" panose="02040603050505030304" pitchFamily="18" charset="0"/>
              </a:rPr>
              <a:t>Building trusted, long-term partnerships through professionalism, transparency, and consistent excellence.</a:t>
            </a:r>
          </a:p>
          <a:p>
            <a:pPr marL="0" lvl="0" indent="0" algn="just"/>
            <a:endParaRPr lang="en-US" sz="1100" dirty="0"/>
          </a:p>
        </p:txBody>
      </p:sp>
      <p:sp>
        <p:nvSpPr>
          <p:cNvPr id="2" name="Rectangle 1">
            <a:extLst>
              <a:ext uri="{FF2B5EF4-FFF2-40B4-BE49-F238E27FC236}">
                <a16:creationId xmlns:a16="http://schemas.microsoft.com/office/drawing/2014/main" id="{40054BC2-E35B-41B6-AF21-A84BA3A1B559}"/>
              </a:ext>
            </a:extLst>
          </p:cNvPr>
          <p:cNvSpPr/>
          <p:nvPr/>
        </p:nvSpPr>
        <p:spPr>
          <a:xfrm>
            <a:off x="7577418" y="0"/>
            <a:ext cx="1566581"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6" name="Picture 5">
            <a:extLst>
              <a:ext uri="{FF2B5EF4-FFF2-40B4-BE49-F238E27FC236}">
                <a16:creationId xmlns:a16="http://schemas.microsoft.com/office/drawing/2014/main" id="{5849FF99-6F7E-4698-92ED-50FA7C3394BB}"/>
              </a:ext>
            </a:extLst>
          </p:cNvPr>
          <p:cNvPicPr>
            <a:picLocks noChangeAspect="1"/>
          </p:cNvPicPr>
          <p:nvPr/>
        </p:nvPicPr>
        <p:blipFill>
          <a:blip r:embed="rId3"/>
          <a:stretch>
            <a:fillRect/>
          </a:stretch>
        </p:blipFill>
        <p:spPr>
          <a:xfrm>
            <a:off x="165302" y="138130"/>
            <a:ext cx="960122" cy="1170434"/>
          </a:xfrm>
          <a:prstGeom prst="rect">
            <a:avLst/>
          </a:prstGeom>
        </p:spPr>
      </p:pic>
    </p:spTree>
    <p:extLst>
      <p:ext uri="{BB962C8B-B14F-4D97-AF65-F5344CB8AC3E}">
        <p14:creationId xmlns:p14="http://schemas.microsoft.com/office/powerpoint/2010/main" val="2697460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3557588" y="629557"/>
            <a:ext cx="5129212" cy="720612"/>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sz="2400" dirty="0">
                <a:solidFill>
                  <a:srgbClr val="003F7E"/>
                </a:solidFill>
              </a:rPr>
              <a:t>PROFESSIONAL AFFILIATIONS</a:t>
            </a:r>
          </a:p>
        </p:txBody>
      </p:sp>
      <p:sp>
        <p:nvSpPr>
          <p:cNvPr id="8" name="Google Shape;170;p26">
            <a:extLst>
              <a:ext uri="{FF2B5EF4-FFF2-40B4-BE49-F238E27FC236}">
                <a16:creationId xmlns:a16="http://schemas.microsoft.com/office/drawing/2014/main" id="{29D679CB-514E-430A-BE69-3D9D8ED8356B}"/>
              </a:ext>
            </a:extLst>
          </p:cNvPr>
          <p:cNvSpPr txBox="1">
            <a:spLocks noGrp="1"/>
          </p:cNvSpPr>
          <p:nvPr>
            <p:ph type="subTitle" idx="1"/>
          </p:nvPr>
        </p:nvSpPr>
        <p:spPr>
          <a:xfrm>
            <a:off x="5164024" y="2091190"/>
            <a:ext cx="2979851" cy="961119"/>
          </a:xfrm>
          <a:prstGeom prst="rect">
            <a:avLst/>
          </a:prstGeom>
        </p:spPr>
        <p:txBody>
          <a:bodyPr spcFirstLastPara="1" wrap="square" lIns="91425" tIns="91425" rIns="91425" bIns="91425" anchor="ctr" anchorCtr="0">
            <a:noAutofit/>
          </a:bodyPr>
          <a:lstStyle/>
          <a:p>
            <a:pPr marL="171450" lvl="0" indent="-171450">
              <a:lnSpc>
                <a:spcPct val="200000"/>
              </a:lnSpc>
              <a:buFont typeface="Arial" panose="020B0604020202020204" pitchFamily="34" charset="0"/>
              <a:buChar char="•"/>
            </a:pPr>
            <a:r>
              <a:rPr lang="en-US" sz="1100" dirty="0">
                <a:solidFill>
                  <a:schemeClr val="tx1"/>
                </a:solidFill>
              </a:rPr>
              <a:t>Member Pakistan Engineering Council </a:t>
            </a:r>
          </a:p>
          <a:p>
            <a:pPr marL="171450" lvl="0" indent="-171450">
              <a:lnSpc>
                <a:spcPct val="200000"/>
              </a:lnSpc>
              <a:buFont typeface="Arial" panose="020B0604020202020204" pitchFamily="34" charset="0"/>
              <a:buChar char="•"/>
            </a:pPr>
            <a:r>
              <a:rPr lang="en-US" sz="1100" dirty="0">
                <a:solidFill>
                  <a:schemeClr val="tx1"/>
                </a:solidFill>
              </a:rPr>
              <a:t>Register with Gulberg Greens Authorities </a:t>
            </a:r>
          </a:p>
          <a:p>
            <a:pPr marL="0" lvl="0" indent="0">
              <a:lnSpc>
                <a:spcPct val="200000"/>
              </a:lnSpc>
            </a:pPr>
            <a:endParaRPr lang="en-US" sz="1100" dirty="0">
              <a:solidFill>
                <a:schemeClr val="tx1"/>
              </a:solidFill>
            </a:endParaRPr>
          </a:p>
        </p:txBody>
      </p:sp>
      <p:pic>
        <p:nvPicPr>
          <p:cNvPr id="6" name="Google Shape;188;p34">
            <a:extLst>
              <a:ext uri="{FF2B5EF4-FFF2-40B4-BE49-F238E27FC236}">
                <a16:creationId xmlns:a16="http://schemas.microsoft.com/office/drawing/2014/main" id="{B25CEC6C-8FBC-4FB3-84DF-5278302C7434}"/>
              </a:ext>
            </a:extLst>
          </p:cNvPr>
          <p:cNvPicPr preferRelativeResize="0"/>
          <p:nvPr/>
        </p:nvPicPr>
        <p:blipFill rotWithShape="1">
          <a:blip r:embed="rId3">
            <a:alphaModFix amt="79000"/>
          </a:blip>
          <a:srcRect l="-14460" t="23593" r="3645"/>
          <a:stretch/>
        </p:blipFill>
        <p:spPr>
          <a:xfrm>
            <a:off x="-642375" y="-1"/>
            <a:ext cx="4924089" cy="5143500"/>
          </a:xfrm>
          <a:prstGeom prst="trapezoid">
            <a:avLst>
              <a:gd name="adj" fmla="val 15518"/>
            </a:avLst>
          </a:prstGeom>
          <a:noFill/>
          <a:ln>
            <a:noFill/>
          </a:ln>
        </p:spPr>
      </p:pic>
      <p:sp>
        <p:nvSpPr>
          <p:cNvPr id="2" name="Rectangle 1">
            <a:extLst>
              <a:ext uri="{FF2B5EF4-FFF2-40B4-BE49-F238E27FC236}">
                <a16:creationId xmlns:a16="http://schemas.microsoft.com/office/drawing/2014/main" id="{40054BC2-E35B-41B6-AF21-A84BA3A1B559}"/>
              </a:ext>
            </a:extLst>
          </p:cNvPr>
          <p:cNvSpPr/>
          <p:nvPr/>
        </p:nvSpPr>
        <p:spPr>
          <a:xfrm flipH="1">
            <a:off x="-1" y="-1"/>
            <a:ext cx="1183342" cy="5143501"/>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538075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BEC4C2-E33E-88B5-1FBA-0F505FB1885D}"/>
              </a:ext>
            </a:extLst>
          </p:cNvPr>
          <p:cNvPicPr>
            <a:picLocks noChangeAspect="1"/>
          </p:cNvPicPr>
          <p:nvPr/>
        </p:nvPicPr>
        <p:blipFill>
          <a:blip r:embed="rId2"/>
          <a:srcRect l="697" t="599" r="2536"/>
          <a:stretch>
            <a:fillRect/>
          </a:stretch>
        </p:blipFill>
        <p:spPr>
          <a:xfrm>
            <a:off x="5136775" y="115501"/>
            <a:ext cx="3583641" cy="5023358"/>
          </a:xfrm>
          <a:prstGeom prst="rect">
            <a:avLst/>
          </a:prstGeom>
        </p:spPr>
      </p:pic>
      <p:sp>
        <p:nvSpPr>
          <p:cNvPr id="9" name="Rectangle 1">
            <a:extLst>
              <a:ext uri="{FF2B5EF4-FFF2-40B4-BE49-F238E27FC236}">
                <a16:creationId xmlns:a16="http://schemas.microsoft.com/office/drawing/2014/main" id="{4394E479-46D8-97EB-A48D-1E7024416557}"/>
              </a:ext>
            </a:extLst>
          </p:cNvPr>
          <p:cNvSpPr/>
          <p:nvPr/>
        </p:nvSpPr>
        <p:spPr>
          <a:xfrm flipH="1">
            <a:off x="-2" y="-1"/>
            <a:ext cx="995083" cy="5143501"/>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6" name="Picture 5">
            <a:extLst>
              <a:ext uri="{FF2B5EF4-FFF2-40B4-BE49-F238E27FC236}">
                <a16:creationId xmlns:a16="http://schemas.microsoft.com/office/drawing/2014/main" id="{38D30764-5AAC-C906-CEDE-8B26C3159093}"/>
              </a:ext>
            </a:extLst>
          </p:cNvPr>
          <p:cNvPicPr>
            <a:picLocks noChangeAspect="1"/>
          </p:cNvPicPr>
          <p:nvPr/>
        </p:nvPicPr>
        <p:blipFill>
          <a:blip r:embed="rId3"/>
          <a:stretch>
            <a:fillRect/>
          </a:stretch>
        </p:blipFill>
        <p:spPr>
          <a:xfrm>
            <a:off x="1263182" y="55430"/>
            <a:ext cx="3563384" cy="5083429"/>
          </a:xfrm>
          <a:prstGeom prst="rect">
            <a:avLst/>
          </a:prstGeom>
        </p:spPr>
      </p:pic>
    </p:spTree>
    <p:extLst>
      <p:ext uri="{BB962C8B-B14F-4D97-AF65-F5344CB8AC3E}">
        <p14:creationId xmlns:p14="http://schemas.microsoft.com/office/powerpoint/2010/main" val="180169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425478" y="278216"/>
            <a:ext cx="5469200" cy="7296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003F7E"/>
                </a:solidFill>
              </a:rPr>
              <a:t>ORGANIZATION CHART</a:t>
            </a:r>
            <a:endParaRPr sz="2400" dirty="0">
              <a:solidFill>
                <a:srgbClr val="003F7E"/>
              </a:solidFill>
            </a:endParaRPr>
          </a:p>
        </p:txBody>
      </p:sp>
      <p:sp>
        <p:nvSpPr>
          <p:cNvPr id="2" name="Rectangle 1">
            <a:extLst>
              <a:ext uri="{FF2B5EF4-FFF2-40B4-BE49-F238E27FC236}">
                <a16:creationId xmlns:a16="http://schemas.microsoft.com/office/drawing/2014/main" id="{40054BC2-E35B-41B6-AF21-A84BA3A1B559}"/>
              </a:ext>
            </a:extLst>
          </p:cNvPr>
          <p:cNvSpPr/>
          <p:nvPr/>
        </p:nvSpPr>
        <p:spPr>
          <a:xfrm>
            <a:off x="7884716" y="0"/>
            <a:ext cx="1259284"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
        <p:nvSpPr>
          <p:cNvPr id="5" name="Rectangle: Rounded Corners 4">
            <a:extLst>
              <a:ext uri="{FF2B5EF4-FFF2-40B4-BE49-F238E27FC236}">
                <a16:creationId xmlns:a16="http://schemas.microsoft.com/office/drawing/2014/main" id="{6143577F-B107-46CA-8254-95DC1AAE8724}"/>
              </a:ext>
            </a:extLst>
          </p:cNvPr>
          <p:cNvSpPr/>
          <p:nvPr/>
        </p:nvSpPr>
        <p:spPr>
          <a:xfrm>
            <a:off x="3380518" y="1016004"/>
            <a:ext cx="1377950" cy="259437"/>
          </a:xfrm>
          <a:prstGeom prst="roundRect">
            <a:avLst/>
          </a:prstGeom>
          <a:solidFill>
            <a:srgbClr val="002570"/>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FFFFFF"/>
                </a:solidFill>
                <a:latin typeface="Calisto MT" panose="02040603050505030304" pitchFamily="18" charset="0"/>
              </a:rPr>
              <a:t>Executives</a:t>
            </a:r>
            <a:r>
              <a:rPr lang="en-US" sz="1100" b="1" dirty="0">
                <a:solidFill>
                  <a:srgbClr val="003BB0"/>
                </a:solidFill>
                <a:latin typeface="Calisto MT" panose="02040603050505030304" pitchFamily="18" charset="0"/>
              </a:rPr>
              <a:t> </a:t>
            </a:r>
          </a:p>
        </p:txBody>
      </p:sp>
      <p:sp>
        <p:nvSpPr>
          <p:cNvPr id="11" name="Rectangle: Rounded Corners 10">
            <a:extLst>
              <a:ext uri="{FF2B5EF4-FFF2-40B4-BE49-F238E27FC236}">
                <a16:creationId xmlns:a16="http://schemas.microsoft.com/office/drawing/2014/main" id="{2330B554-3840-4270-999E-19CAD8CDE9F6}"/>
              </a:ext>
            </a:extLst>
          </p:cNvPr>
          <p:cNvSpPr/>
          <p:nvPr/>
        </p:nvSpPr>
        <p:spPr>
          <a:xfrm>
            <a:off x="1028584" y="2279793"/>
            <a:ext cx="1198526" cy="259437"/>
          </a:xfrm>
          <a:prstGeom prst="roundRect">
            <a:avLst/>
          </a:prstGeom>
          <a:solidFill>
            <a:srgbClr val="002570"/>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FFFFFF"/>
                </a:solidFill>
                <a:latin typeface="Calisto MT" panose="02040603050505030304" pitchFamily="18" charset="0"/>
              </a:rPr>
              <a:t>Architecture </a:t>
            </a:r>
            <a:endParaRPr lang="en-US" sz="1100" b="1" dirty="0">
              <a:solidFill>
                <a:srgbClr val="003BB0"/>
              </a:solidFill>
              <a:latin typeface="Calisto MT" panose="02040603050505030304" pitchFamily="18" charset="0"/>
            </a:endParaRPr>
          </a:p>
        </p:txBody>
      </p:sp>
      <p:sp>
        <p:nvSpPr>
          <p:cNvPr id="13" name="Rectangle: Rounded Corners 12">
            <a:extLst>
              <a:ext uri="{FF2B5EF4-FFF2-40B4-BE49-F238E27FC236}">
                <a16:creationId xmlns:a16="http://schemas.microsoft.com/office/drawing/2014/main" id="{9DBC1C77-1EE6-4E62-996F-1C9DDA6A8EEB}"/>
              </a:ext>
            </a:extLst>
          </p:cNvPr>
          <p:cNvSpPr/>
          <p:nvPr/>
        </p:nvSpPr>
        <p:spPr>
          <a:xfrm>
            <a:off x="3380518" y="2276743"/>
            <a:ext cx="1377950" cy="285049"/>
          </a:xfrm>
          <a:prstGeom prst="roundRect">
            <a:avLst/>
          </a:prstGeom>
          <a:solidFill>
            <a:srgbClr val="002570"/>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FFFFFF"/>
                </a:solidFill>
                <a:latin typeface="Calisto MT" panose="02040603050505030304" pitchFamily="18" charset="0"/>
              </a:rPr>
              <a:t>Civil/Structure </a:t>
            </a:r>
            <a:endParaRPr lang="en-US" sz="1100" b="1" dirty="0">
              <a:solidFill>
                <a:srgbClr val="003BB0"/>
              </a:solidFill>
              <a:latin typeface="Calisto MT" panose="02040603050505030304" pitchFamily="18" charset="0"/>
            </a:endParaRPr>
          </a:p>
        </p:txBody>
      </p:sp>
      <p:sp>
        <p:nvSpPr>
          <p:cNvPr id="19" name="Rectangle: Rounded Corners 18">
            <a:extLst>
              <a:ext uri="{FF2B5EF4-FFF2-40B4-BE49-F238E27FC236}">
                <a16:creationId xmlns:a16="http://schemas.microsoft.com/office/drawing/2014/main" id="{5A622A80-7FA9-4811-B401-46EF46D6E6C1}"/>
              </a:ext>
            </a:extLst>
          </p:cNvPr>
          <p:cNvSpPr/>
          <p:nvPr/>
        </p:nvSpPr>
        <p:spPr>
          <a:xfrm>
            <a:off x="3370698" y="3563094"/>
            <a:ext cx="1377950" cy="259437"/>
          </a:xfrm>
          <a:prstGeom prst="roundRect">
            <a:avLst/>
          </a:prstGeom>
          <a:solidFill>
            <a:srgbClr val="002570"/>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FFFFFF"/>
                </a:solidFill>
                <a:latin typeface="Calisto MT" panose="02040603050505030304" pitchFamily="18" charset="0"/>
              </a:rPr>
              <a:t>Site Staff</a:t>
            </a:r>
            <a:endParaRPr lang="en-US" sz="1100" b="1" dirty="0">
              <a:solidFill>
                <a:srgbClr val="003BB0"/>
              </a:solidFill>
              <a:latin typeface="Calisto MT" panose="02040603050505030304" pitchFamily="18" charset="0"/>
            </a:endParaRPr>
          </a:p>
        </p:txBody>
      </p:sp>
      <p:sp>
        <p:nvSpPr>
          <p:cNvPr id="20" name="Rectangle: Rounded Corners 19">
            <a:extLst>
              <a:ext uri="{FF2B5EF4-FFF2-40B4-BE49-F238E27FC236}">
                <a16:creationId xmlns:a16="http://schemas.microsoft.com/office/drawing/2014/main" id="{AEF9C2AE-9CD4-4F93-BAA3-C679649DFADD}"/>
              </a:ext>
            </a:extLst>
          </p:cNvPr>
          <p:cNvSpPr/>
          <p:nvPr/>
        </p:nvSpPr>
        <p:spPr>
          <a:xfrm>
            <a:off x="3370698" y="4104706"/>
            <a:ext cx="1377850" cy="373112"/>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M. Arsalan Aman </a:t>
            </a:r>
            <a:r>
              <a:rPr lang="en-US" sz="700" b="1" dirty="0">
                <a:solidFill>
                  <a:schemeClr val="tx1"/>
                </a:solidFill>
                <a:latin typeface="Calisto MT" panose="02040603050505030304" pitchFamily="18" charset="0"/>
              </a:rPr>
              <a:t>(Project Manager)</a:t>
            </a:r>
          </a:p>
        </p:txBody>
      </p:sp>
      <p:sp>
        <p:nvSpPr>
          <p:cNvPr id="25" name="Rectangle: Rounded Corners 24">
            <a:extLst>
              <a:ext uri="{FF2B5EF4-FFF2-40B4-BE49-F238E27FC236}">
                <a16:creationId xmlns:a16="http://schemas.microsoft.com/office/drawing/2014/main" id="{4E61CA51-4F48-4CC7-AE0D-C2BF2D496DAE}"/>
              </a:ext>
            </a:extLst>
          </p:cNvPr>
          <p:cNvSpPr/>
          <p:nvPr/>
        </p:nvSpPr>
        <p:spPr>
          <a:xfrm>
            <a:off x="2319144" y="1423672"/>
            <a:ext cx="1198526" cy="439442"/>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Zain Rasool </a:t>
            </a:r>
          </a:p>
          <a:p>
            <a:pPr algn="ctr"/>
            <a:r>
              <a:rPr lang="en-US" sz="800" b="1" dirty="0">
                <a:solidFill>
                  <a:schemeClr val="tx1"/>
                </a:solidFill>
                <a:latin typeface="Calisto MT" panose="02040603050505030304" pitchFamily="18" charset="0"/>
              </a:rPr>
              <a:t>Director</a:t>
            </a:r>
            <a:r>
              <a:rPr lang="en-US" sz="1100" b="1" dirty="0">
                <a:solidFill>
                  <a:schemeClr val="tx1"/>
                </a:solidFill>
                <a:latin typeface="Calisto MT" panose="02040603050505030304" pitchFamily="18" charset="0"/>
              </a:rPr>
              <a:t> </a:t>
            </a:r>
          </a:p>
        </p:txBody>
      </p:sp>
      <p:sp>
        <p:nvSpPr>
          <p:cNvPr id="26" name="Rectangle: Rounded Corners 25">
            <a:extLst>
              <a:ext uri="{FF2B5EF4-FFF2-40B4-BE49-F238E27FC236}">
                <a16:creationId xmlns:a16="http://schemas.microsoft.com/office/drawing/2014/main" id="{FD2982AE-857C-4995-AFFF-E8648D4A2677}"/>
              </a:ext>
            </a:extLst>
          </p:cNvPr>
          <p:cNvSpPr/>
          <p:nvPr/>
        </p:nvSpPr>
        <p:spPr>
          <a:xfrm>
            <a:off x="4663987" y="1423467"/>
            <a:ext cx="1198526" cy="446068"/>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Yousaf Shah</a:t>
            </a:r>
          </a:p>
          <a:p>
            <a:pPr algn="ctr"/>
            <a:r>
              <a:rPr lang="en-US" sz="800" b="1" dirty="0">
                <a:solidFill>
                  <a:schemeClr val="tx1"/>
                </a:solidFill>
                <a:latin typeface="Calisto MT" panose="02040603050505030304" pitchFamily="18" charset="0"/>
              </a:rPr>
              <a:t>Director</a:t>
            </a:r>
          </a:p>
        </p:txBody>
      </p:sp>
      <p:pic>
        <p:nvPicPr>
          <p:cNvPr id="29" name="Picture 28">
            <a:extLst>
              <a:ext uri="{FF2B5EF4-FFF2-40B4-BE49-F238E27FC236}">
                <a16:creationId xmlns:a16="http://schemas.microsoft.com/office/drawing/2014/main" id="{11903EF7-290F-4ADC-810A-818B88339924}"/>
              </a:ext>
            </a:extLst>
          </p:cNvPr>
          <p:cNvPicPr>
            <a:picLocks noChangeAspect="1"/>
          </p:cNvPicPr>
          <p:nvPr/>
        </p:nvPicPr>
        <p:blipFill>
          <a:blip r:embed="rId3"/>
          <a:stretch>
            <a:fillRect/>
          </a:stretch>
        </p:blipFill>
        <p:spPr>
          <a:xfrm>
            <a:off x="165302" y="138130"/>
            <a:ext cx="960122" cy="1170434"/>
          </a:xfrm>
          <a:prstGeom prst="rect">
            <a:avLst/>
          </a:prstGeom>
        </p:spPr>
      </p:pic>
      <p:sp>
        <p:nvSpPr>
          <p:cNvPr id="24" name="Rectangle: Rounded Corners 23">
            <a:extLst>
              <a:ext uri="{FF2B5EF4-FFF2-40B4-BE49-F238E27FC236}">
                <a16:creationId xmlns:a16="http://schemas.microsoft.com/office/drawing/2014/main" id="{3E1866B9-3A3A-4325-9CDC-35B7FD208283}"/>
              </a:ext>
            </a:extLst>
          </p:cNvPr>
          <p:cNvSpPr/>
          <p:nvPr/>
        </p:nvSpPr>
        <p:spPr>
          <a:xfrm>
            <a:off x="6057401" y="2312313"/>
            <a:ext cx="1198526" cy="259437"/>
          </a:xfrm>
          <a:prstGeom prst="roundRect">
            <a:avLst/>
          </a:prstGeom>
          <a:solidFill>
            <a:srgbClr val="002570"/>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FFFFFF"/>
                </a:solidFill>
                <a:latin typeface="Calisto MT" panose="02040603050505030304" pitchFamily="18" charset="0"/>
              </a:rPr>
              <a:t>MEP &amp; IBMS</a:t>
            </a:r>
            <a:endParaRPr lang="en-US" sz="1100" b="1" dirty="0">
              <a:solidFill>
                <a:srgbClr val="003BB0"/>
              </a:solidFill>
              <a:latin typeface="Calisto MT" panose="02040603050505030304" pitchFamily="18" charset="0"/>
            </a:endParaRPr>
          </a:p>
        </p:txBody>
      </p:sp>
      <p:sp>
        <p:nvSpPr>
          <p:cNvPr id="34" name="Rectangle: Rounded Corners 33">
            <a:extLst>
              <a:ext uri="{FF2B5EF4-FFF2-40B4-BE49-F238E27FC236}">
                <a16:creationId xmlns:a16="http://schemas.microsoft.com/office/drawing/2014/main" id="{DC2274F5-067B-4423-8E62-EA146A2F8DC0}"/>
              </a:ext>
            </a:extLst>
          </p:cNvPr>
          <p:cNvSpPr/>
          <p:nvPr/>
        </p:nvSpPr>
        <p:spPr>
          <a:xfrm>
            <a:off x="927847" y="2839937"/>
            <a:ext cx="1247077" cy="373112"/>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M. </a:t>
            </a:r>
            <a:r>
              <a:rPr lang="en-US" sz="1100" b="1" dirty="0" err="1">
                <a:solidFill>
                  <a:schemeClr val="tx1"/>
                </a:solidFill>
                <a:latin typeface="Calisto MT" panose="02040603050505030304" pitchFamily="18" charset="0"/>
              </a:rPr>
              <a:t>Ikhtyar</a:t>
            </a:r>
            <a:r>
              <a:rPr lang="en-US" sz="1100" b="1" dirty="0">
                <a:solidFill>
                  <a:schemeClr val="tx1"/>
                </a:solidFill>
                <a:latin typeface="Calisto MT" panose="02040603050505030304" pitchFamily="18" charset="0"/>
              </a:rPr>
              <a:t>      </a:t>
            </a:r>
            <a:r>
              <a:rPr lang="en-US" sz="800" b="1" dirty="0">
                <a:solidFill>
                  <a:schemeClr val="tx1"/>
                </a:solidFill>
                <a:latin typeface="Calisto MT" panose="02040603050505030304" pitchFamily="18" charset="0"/>
              </a:rPr>
              <a:t>(</a:t>
            </a:r>
            <a:r>
              <a:rPr lang="en-US" sz="800" b="1" dirty="0" err="1">
                <a:solidFill>
                  <a:schemeClr val="tx1"/>
                </a:solidFill>
                <a:latin typeface="Calisto MT" panose="02040603050505030304" pitchFamily="18" charset="0"/>
              </a:rPr>
              <a:t>B.Sc</a:t>
            </a:r>
            <a:r>
              <a:rPr lang="en-US" sz="800" b="1" dirty="0">
                <a:solidFill>
                  <a:schemeClr val="tx1"/>
                </a:solidFill>
                <a:latin typeface="Calisto MT" panose="02040603050505030304" pitchFamily="18" charset="0"/>
              </a:rPr>
              <a:t> </a:t>
            </a:r>
            <a:r>
              <a:rPr lang="en-US" sz="800" b="1" dirty="0" err="1">
                <a:solidFill>
                  <a:schemeClr val="tx1"/>
                </a:solidFill>
                <a:latin typeface="Calisto MT" panose="02040603050505030304" pitchFamily="18" charset="0"/>
              </a:rPr>
              <a:t>Architech</a:t>
            </a:r>
            <a:r>
              <a:rPr lang="en-US" sz="800" b="1" dirty="0">
                <a:solidFill>
                  <a:schemeClr val="tx1"/>
                </a:solidFill>
                <a:latin typeface="Calisto MT" panose="02040603050505030304" pitchFamily="18" charset="0"/>
              </a:rPr>
              <a:t>)</a:t>
            </a:r>
          </a:p>
        </p:txBody>
      </p:sp>
      <p:sp>
        <p:nvSpPr>
          <p:cNvPr id="40" name="Rectangle: Rounded Corners 39">
            <a:extLst>
              <a:ext uri="{FF2B5EF4-FFF2-40B4-BE49-F238E27FC236}">
                <a16:creationId xmlns:a16="http://schemas.microsoft.com/office/drawing/2014/main" id="{0D83AC0D-4C25-433C-87F2-AFC4F784C3F5}"/>
              </a:ext>
            </a:extLst>
          </p:cNvPr>
          <p:cNvSpPr/>
          <p:nvPr/>
        </p:nvSpPr>
        <p:spPr>
          <a:xfrm>
            <a:off x="4160078" y="2839937"/>
            <a:ext cx="1417822" cy="384387"/>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Ali Rehman         </a:t>
            </a:r>
            <a:r>
              <a:rPr lang="en-US" sz="800" b="1" dirty="0" err="1">
                <a:solidFill>
                  <a:schemeClr val="tx1"/>
                </a:solidFill>
                <a:latin typeface="Calisto MT" panose="02040603050505030304" pitchFamily="18" charset="0"/>
              </a:rPr>
              <a:t>M.Sc</a:t>
            </a:r>
            <a:r>
              <a:rPr lang="en-US" sz="800" b="1" dirty="0">
                <a:solidFill>
                  <a:schemeClr val="tx1"/>
                </a:solidFill>
                <a:latin typeface="Calisto MT" panose="02040603050505030304" pitchFamily="18" charset="0"/>
              </a:rPr>
              <a:t> (Civil)</a:t>
            </a:r>
          </a:p>
        </p:txBody>
      </p:sp>
      <p:sp>
        <p:nvSpPr>
          <p:cNvPr id="43" name="Rectangle: Rounded Corners 42">
            <a:extLst>
              <a:ext uri="{FF2B5EF4-FFF2-40B4-BE49-F238E27FC236}">
                <a16:creationId xmlns:a16="http://schemas.microsoft.com/office/drawing/2014/main" id="{6422AA9A-2A0F-4E57-BA14-BEC25A189B9B}"/>
              </a:ext>
            </a:extLst>
          </p:cNvPr>
          <p:cNvSpPr/>
          <p:nvPr/>
        </p:nvSpPr>
        <p:spPr>
          <a:xfrm>
            <a:off x="5929854" y="2852315"/>
            <a:ext cx="1602907" cy="373112"/>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Dilshad Rehman                    </a:t>
            </a:r>
            <a:r>
              <a:rPr lang="en-US" sz="800" b="1" dirty="0">
                <a:solidFill>
                  <a:schemeClr val="tx1"/>
                </a:solidFill>
                <a:latin typeface="Calisto MT" panose="02040603050505030304" pitchFamily="18" charset="0"/>
              </a:rPr>
              <a:t>(Manager)</a:t>
            </a:r>
          </a:p>
        </p:txBody>
      </p:sp>
      <p:sp>
        <p:nvSpPr>
          <p:cNvPr id="3" name="Rectangle: Rounded Corners 2">
            <a:extLst>
              <a:ext uri="{FF2B5EF4-FFF2-40B4-BE49-F238E27FC236}">
                <a16:creationId xmlns:a16="http://schemas.microsoft.com/office/drawing/2014/main" id="{C0D3920D-FE13-7197-310F-782293E7AE64}"/>
              </a:ext>
            </a:extLst>
          </p:cNvPr>
          <p:cNvSpPr/>
          <p:nvPr/>
        </p:nvSpPr>
        <p:spPr>
          <a:xfrm>
            <a:off x="2603079" y="2839937"/>
            <a:ext cx="1377950" cy="384387"/>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M. Adnan         </a:t>
            </a:r>
            <a:r>
              <a:rPr lang="en-US" sz="800" b="1" dirty="0" err="1">
                <a:solidFill>
                  <a:schemeClr val="tx1"/>
                </a:solidFill>
                <a:latin typeface="Calisto MT" panose="02040603050505030304" pitchFamily="18" charset="0"/>
              </a:rPr>
              <a:t>M.Sc</a:t>
            </a:r>
            <a:r>
              <a:rPr lang="en-US" sz="800" b="1" dirty="0">
                <a:solidFill>
                  <a:schemeClr val="tx1"/>
                </a:solidFill>
                <a:latin typeface="Calisto MT" panose="02040603050505030304" pitchFamily="18" charset="0"/>
              </a:rPr>
              <a:t> Structural Engineer</a:t>
            </a:r>
          </a:p>
        </p:txBody>
      </p:sp>
      <p:sp>
        <p:nvSpPr>
          <p:cNvPr id="4" name="Rectangle: Rounded Corners 3">
            <a:extLst>
              <a:ext uri="{FF2B5EF4-FFF2-40B4-BE49-F238E27FC236}">
                <a16:creationId xmlns:a16="http://schemas.microsoft.com/office/drawing/2014/main" id="{37482268-C51F-1D63-D12B-7D699BBBBE89}"/>
              </a:ext>
            </a:extLst>
          </p:cNvPr>
          <p:cNvSpPr/>
          <p:nvPr/>
        </p:nvSpPr>
        <p:spPr>
          <a:xfrm>
            <a:off x="5100503" y="4104706"/>
            <a:ext cx="1377850" cy="373112"/>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M. Fida               </a:t>
            </a:r>
            <a:r>
              <a:rPr lang="en-US" sz="700" b="1" dirty="0">
                <a:solidFill>
                  <a:schemeClr val="tx1"/>
                </a:solidFill>
                <a:latin typeface="Calisto MT" panose="02040603050505030304" pitchFamily="18" charset="0"/>
              </a:rPr>
              <a:t>(Site Supervisor)</a:t>
            </a:r>
          </a:p>
        </p:txBody>
      </p:sp>
      <p:sp>
        <p:nvSpPr>
          <p:cNvPr id="6" name="Rectangle: Rounded Corners 5">
            <a:extLst>
              <a:ext uri="{FF2B5EF4-FFF2-40B4-BE49-F238E27FC236}">
                <a16:creationId xmlns:a16="http://schemas.microsoft.com/office/drawing/2014/main" id="{E9F66BC4-104F-2652-0676-7074CF4C9787}"/>
              </a:ext>
            </a:extLst>
          </p:cNvPr>
          <p:cNvSpPr/>
          <p:nvPr/>
        </p:nvSpPr>
        <p:spPr>
          <a:xfrm>
            <a:off x="1678454" y="4112164"/>
            <a:ext cx="1377850" cy="373112"/>
          </a:xfrm>
          <a:prstGeom prst="roundRect">
            <a:avLst/>
          </a:prstGeom>
          <a:solidFill>
            <a:schemeClr val="tx2">
              <a:lumMod val="90000"/>
            </a:schemeClr>
          </a:solidFill>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chemeClr val="tx1"/>
                </a:solidFill>
                <a:latin typeface="Calisto MT" panose="02040603050505030304" pitchFamily="18" charset="0"/>
              </a:rPr>
              <a:t>Saqib Tufail               </a:t>
            </a:r>
            <a:r>
              <a:rPr lang="en-US" sz="700" b="1" dirty="0">
                <a:solidFill>
                  <a:schemeClr val="tx1"/>
                </a:solidFill>
                <a:latin typeface="Calisto MT" panose="02040603050505030304" pitchFamily="18" charset="0"/>
              </a:rPr>
              <a:t>(Construction Manager)</a:t>
            </a:r>
          </a:p>
        </p:txBody>
      </p:sp>
    </p:spTree>
    <p:extLst>
      <p:ext uri="{BB962C8B-B14F-4D97-AF65-F5344CB8AC3E}">
        <p14:creationId xmlns:p14="http://schemas.microsoft.com/office/powerpoint/2010/main" val="1715938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125424" y="521309"/>
            <a:ext cx="5469200" cy="7296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003F7E"/>
                </a:solidFill>
              </a:rPr>
              <a:t>SERVICES</a:t>
            </a:r>
            <a:r>
              <a:rPr lang="en-US" sz="3500" dirty="0">
                <a:solidFill>
                  <a:srgbClr val="003F7E"/>
                </a:solidFill>
              </a:rPr>
              <a:t> </a:t>
            </a:r>
          </a:p>
        </p:txBody>
      </p:sp>
      <p:sp>
        <p:nvSpPr>
          <p:cNvPr id="3" name="TextBox 2">
            <a:extLst>
              <a:ext uri="{FF2B5EF4-FFF2-40B4-BE49-F238E27FC236}">
                <a16:creationId xmlns:a16="http://schemas.microsoft.com/office/drawing/2014/main" id="{6131A8DA-94E1-4D98-9F91-8820624717FB}"/>
              </a:ext>
            </a:extLst>
          </p:cNvPr>
          <p:cNvSpPr txBox="1"/>
          <p:nvPr/>
        </p:nvSpPr>
        <p:spPr>
          <a:xfrm>
            <a:off x="735053" y="1779726"/>
            <a:ext cx="6819693" cy="461665"/>
          </a:xfrm>
          <a:prstGeom prst="rect">
            <a:avLst/>
          </a:prstGeom>
          <a:noFill/>
        </p:spPr>
        <p:txBody>
          <a:bodyPr wrap="square" rtlCol="0">
            <a:spAutoFit/>
          </a:bodyPr>
          <a:lstStyle/>
          <a:p>
            <a:pPr lvl="0" algn="just"/>
            <a:r>
              <a:rPr lang="en-US" sz="1200" dirty="0">
                <a:latin typeface="Calisto MT" panose="02040603050505030304" pitchFamily="18" charset="0"/>
              </a:rPr>
              <a:t>Preparation of architectural design for the residential, commercial, industrial, public, recreation  institutional, buildings. The interior designing and the renovation of the buildings are also included. </a:t>
            </a:r>
          </a:p>
        </p:txBody>
      </p:sp>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413098" y="1405131"/>
            <a:ext cx="2545159" cy="4845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Architectural</a:t>
            </a:r>
            <a:r>
              <a:rPr lang="en-US" sz="1800" dirty="0">
                <a:solidFill>
                  <a:srgbClr val="003F7E"/>
                </a:solidFill>
              </a:rPr>
              <a:t> </a:t>
            </a:r>
          </a:p>
        </p:txBody>
      </p:sp>
      <p:sp>
        <p:nvSpPr>
          <p:cNvPr id="26" name="TextBox 25">
            <a:extLst>
              <a:ext uri="{FF2B5EF4-FFF2-40B4-BE49-F238E27FC236}">
                <a16:creationId xmlns:a16="http://schemas.microsoft.com/office/drawing/2014/main" id="{FDC92A55-95A8-4446-8309-7B2A27341B6D}"/>
              </a:ext>
            </a:extLst>
          </p:cNvPr>
          <p:cNvSpPr txBox="1"/>
          <p:nvPr/>
        </p:nvSpPr>
        <p:spPr>
          <a:xfrm>
            <a:off x="735053" y="3677557"/>
            <a:ext cx="6819693" cy="1015663"/>
          </a:xfrm>
          <a:prstGeom prst="rect">
            <a:avLst/>
          </a:prstGeom>
          <a:noFill/>
        </p:spPr>
        <p:txBody>
          <a:bodyPr wrap="square" rtlCol="0">
            <a:spAutoFit/>
          </a:bodyPr>
          <a:lstStyle/>
          <a:p>
            <a:pPr lvl="0" algn="just"/>
            <a:r>
              <a:rPr lang="en-US" sz="1200" dirty="0" err="1">
                <a:latin typeface="Calisto MT" panose="02040603050505030304" pitchFamily="18" charset="0"/>
              </a:rPr>
              <a:t>Viscon</a:t>
            </a:r>
            <a:r>
              <a:rPr lang="en-US" sz="1200" dirty="0">
                <a:latin typeface="Calisto MT" panose="02040603050505030304" pitchFamily="18" charset="0"/>
              </a:rPr>
              <a:t> Engineering operates as a complete EPC (Engineering, Procurement &amp; Construction) service provider, delivering end-to-end solutions from concept to Project handover. Our integrated approach ensures seamless coordination between design, material sourcing, and construction execution enabling projects to be completed with precision, efficiency, and quality. Through advanced planning, smart technologies, and strong project management, we transform complex visions into sustainable realities.</a:t>
            </a:r>
          </a:p>
        </p:txBody>
      </p:sp>
      <p:sp>
        <p:nvSpPr>
          <p:cNvPr id="27" name="Google Shape;158;p31">
            <a:extLst>
              <a:ext uri="{FF2B5EF4-FFF2-40B4-BE49-F238E27FC236}">
                <a16:creationId xmlns:a16="http://schemas.microsoft.com/office/drawing/2014/main" id="{06069A10-5037-4C78-9AAF-AC6148DFE6BC}"/>
              </a:ext>
            </a:extLst>
          </p:cNvPr>
          <p:cNvSpPr txBox="1">
            <a:spLocks/>
          </p:cNvSpPr>
          <p:nvPr/>
        </p:nvSpPr>
        <p:spPr>
          <a:xfrm>
            <a:off x="413098" y="3340740"/>
            <a:ext cx="5765730" cy="3960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Engineering Procurement &amp; Construction (EPC)</a:t>
            </a:r>
          </a:p>
        </p:txBody>
      </p:sp>
      <p:sp>
        <p:nvSpPr>
          <p:cNvPr id="28" name="TextBox 27">
            <a:extLst>
              <a:ext uri="{FF2B5EF4-FFF2-40B4-BE49-F238E27FC236}">
                <a16:creationId xmlns:a16="http://schemas.microsoft.com/office/drawing/2014/main" id="{ECD1BEEF-E5D0-48B3-A67F-3C66DF5503FA}"/>
              </a:ext>
            </a:extLst>
          </p:cNvPr>
          <p:cNvSpPr txBox="1"/>
          <p:nvPr/>
        </p:nvSpPr>
        <p:spPr>
          <a:xfrm>
            <a:off x="726401" y="2718848"/>
            <a:ext cx="6836353" cy="461665"/>
          </a:xfrm>
          <a:prstGeom prst="rect">
            <a:avLst/>
          </a:prstGeom>
          <a:noFill/>
        </p:spPr>
        <p:txBody>
          <a:bodyPr wrap="square" rtlCol="0">
            <a:spAutoFit/>
          </a:bodyPr>
          <a:lstStyle/>
          <a:p>
            <a:pPr lvl="0" algn="just"/>
            <a:r>
              <a:rPr lang="en-US" sz="1200" dirty="0">
                <a:latin typeface="Calisto MT" panose="02040603050505030304" pitchFamily="18" charset="0"/>
              </a:rPr>
              <a:t>Providing complete structural solution in steel and R.C.C buildings considering the stability of structure and economy of client.</a:t>
            </a:r>
          </a:p>
        </p:txBody>
      </p:sp>
      <p:sp>
        <p:nvSpPr>
          <p:cNvPr id="29" name="Google Shape;158;p31">
            <a:extLst>
              <a:ext uri="{FF2B5EF4-FFF2-40B4-BE49-F238E27FC236}">
                <a16:creationId xmlns:a16="http://schemas.microsoft.com/office/drawing/2014/main" id="{81D5EB5D-ED5C-427B-9442-E8D8A5E4B4FD}"/>
              </a:ext>
            </a:extLst>
          </p:cNvPr>
          <p:cNvSpPr txBox="1">
            <a:spLocks/>
          </p:cNvSpPr>
          <p:nvPr/>
        </p:nvSpPr>
        <p:spPr>
          <a:xfrm>
            <a:off x="414532" y="2394339"/>
            <a:ext cx="2881431" cy="37501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Structural Design </a:t>
            </a:r>
          </a:p>
        </p:txBody>
      </p:sp>
      <p:pic>
        <p:nvPicPr>
          <p:cNvPr id="11" name="Picture 10">
            <a:extLst>
              <a:ext uri="{FF2B5EF4-FFF2-40B4-BE49-F238E27FC236}">
                <a16:creationId xmlns:a16="http://schemas.microsoft.com/office/drawing/2014/main" id="{B94592E3-652D-407E-A6A8-50CFC190894A}"/>
              </a:ext>
            </a:extLst>
          </p:cNvPr>
          <p:cNvPicPr>
            <a:picLocks noChangeAspect="1"/>
          </p:cNvPicPr>
          <p:nvPr/>
        </p:nvPicPr>
        <p:blipFill>
          <a:blip r:embed="rId3"/>
          <a:stretch>
            <a:fillRect/>
          </a:stretch>
        </p:blipFill>
        <p:spPr>
          <a:xfrm>
            <a:off x="165302" y="138130"/>
            <a:ext cx="960122" cy="1170434"/>
          </a:xfrm>
          <a:prstGeom prst="rect">
            <a:avLst/>
          </a:prstGeom>
        </p:spPr>
      </p:pic>
      <p:sp>
        <p:nvSpPr>
          <p:cNvPr id="4" name="Rectangle 1">
            <a:extLst>
              <a:ext uri="{FF2B5EF4-FFF2-40B4-BE49-F238E27FC236}">
                <a16:creationId xmlns:a16="http://schemas.microsoft.com/office/drawing/2014/main" id="{BB69E6A6-6744-89FA-F493-915217BD5347}"/>
              </a:ext>
            </a:extLst>
          </p:cNvPr>
          <p:cNvSpPr/>
          <p:nvPr/>
        </p:nvSpPr>
        <p:spPr>
          <a:xfrm>
            <a:off x="7804150" y="0"/>
            <a:ext cx="1339850"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845402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125424" y="521309"/>
            <a:ext cx="5469200" cy="7296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003F7E"/>
                </a:solidFill>
              </a:rPr>
              <a:t>SERVICES</a:t>
            </a:r>
            <a:r>
              <a:rPr lang="en-US" sz="3500" dirty="0">
                <a:solidFill>
                  <a:srgbClr val="003F7E"/>
                </a:solidFill>
              </a:rPr>
              <a:t> </a:t>
            </a:r>
          </a:p>
        </p:txBody>
      </p:sp>
      <p:sp>
        <p:nvSpPr>
          <p:cNvPr id="3" name="TextBox 2">
            <a:extLst>
              <a:ext uri="{FF2B5EF4-FFF2-40B4-BE49-F238E27FC236}">
                <a16:creationId xmlns:a16="http://schemas.microsoft.com/office/drawing/2014/main" id="{6131A8DA-94E1-4D98-9F91-8820624717FB}"/>
              </a:ext>
            </a:extLst>
          </p:cNvPr>
          <p:cNvSpPr txBox="1"/>
          <p:nvPr/>
        </p:nvSpPr>
        <p:spPr>
          <a:xfrm>
            <a:off x="860663" y="1721736"/>
            <a:ext cx="6694083" cy="461665"/>
          </a:xfrm>
          <a:prstGeom prst="rect">
            <a:avLst/>
          </a:prstGeom>
          <a:noFill/>
        </p:spPr>
        <p:txBody>
          <a:bodyPr wrap="square" rtlCol="0">
            <a:spAutoFit/>
          </a:bodyPr>
          <a:lstStyle/>
          <a:p>
            <a:pPr lvl="0" algn="just"/>
            <a:r>
              <a:rPr lang="en-US" sz="1200" dirty="0">
                <a:latin typeface="Calisto MT" panose="02040603050505030304" pitchFamily="18" charset="0"/>
              </a:rPr>
              <a:t>Survey, investigation, and research on surveillance, monitoring, and control of pollution of air, water, solid waste, rain. Topographic and alignment surveys carrying out.</a:t>
            </a:r>
          </a:p>
        </p:txBody>
      </p:sp>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406469" y="1337817"/>
            <a:ext cx="5787161" cy="4033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Environmental Studies and Planning  </a:t>
            </a:r>
          </a:p>
        </p:txBody>
      </p:sp>
      <p:sp>
        <p:nvSpPr>
          <p:cNvPr id="28" name="TextBox 27">
            <a:extLst>
              <a:ext uri="{FF2B5EF4-FFF2-40B4-BE49-F238E27FC236}">
                <a16:creationId xmlns:a16="http://schemas.microsoft.com/office/drawing/2014/main" id="{ECD1BEEF-E5D0-48B3-A67F-3C66DF5503FA}"/>
              </a:ext>
            </a:extLst>
          </p:cNvPr>
          <p:cNvSpPr txBox="1"/>
          <p:nvPr/>
        </p:nvSpPr>
        <p:spPr>
          <a:xfrm>
            <a:off x="816596" y="2693954"/>
            <a:ext cx="6738150" cy="646331"/>
          </a:xfrm>
          <a:prstGeom prst="rect">
            <a:avLst/>
          </a:prstGeom>
          <a:noFill/>
        </p:spPr>
        <p:txBody>
          <a:bodyPr wrap="square" rtlCol="0">
            <a:spAutoFit/>
          </a:bodyPr>
          <a:lstStyle/>
          <a:p>
            <a:pPr lvl="0" algn="just"/>
            <a:r>
              <a:rPr lang="en-US" sz="1200" dirty="0">
                <a:latin typeface="Calisto MT" panose="02040603050505030304" pitchFamily="18" charset="0"/>
              </a:rPr>
              <a:t>Planning, investigation, design and supervision of the construction of water supply, sewerage, and drainage projects in urban and rural areas. The designs of drinking and wastewater treatment systems are also carried out. </a:t>
            </a:r>
          </a:p>
        </p:txBody>
      </p:sp>
      <p:sp>
        <p:nvSpPr>
          <p:cNvPr id="29" name="Google Shape;158;p31">
            <a:extLst>
              <a:ext uri="{FF2B5EF4-FFF2-40B4-BE49-F238E27FC236}">
                <a16:creationId xmlns:a16="http://schemas.microsoft.com/office/drawing/2014/main" id="{81D5EB5D-ED5C-427B-9442-E8D8A5E4B4FD}"/>
              </a:ext>
            </a:extLst>
          </p:cNvPr>
          <p:cNvSpPr txBox="1">
            <a:spLocks/>
          </p:cNvSpPr>
          <p:nvPr/>
        </p:nvSpPr>
        <p:spPr>
          <a:xfrm>
            <a:off x="406469" y="2211968"/>
            <a:ext cx="5244235" cy="46166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Public Health Engineering </a:t>
            </a:r>
          </a:p>
        </p:txBody>
      </p:sp>
      <p:pic>
        <p:nvPicPr>
          <p:cNvPr id="11" name="Picture 10">
            <a:extLst>
              <a:ext uri="{FF2B5EF4-FFF2-40B4-BE49-F238E27FC236}">
                <a16:creationId xmlns:a16="http://schemas.microsoft.com/office/drawing/2014/main" id="{6531D141-E7DC-4A7D-8431-2B44E0AE5CC9}"/>
              </a:ext>
            </a:extLst>
          </p:cNvPr>
          <p:cNvPicPr>
            <a:picLocks noChangeAspect="1"/>
          </p:cNvPicPr>
          <p:nvPr/>
        </p:nvPicPr>
        <p:blipFill>
          <a:blip r:embed="rId3"/>
          <a:stretch>
            <a:fillRect/>
          </a:stretch>
        </p:blipFill>
        <p:spPr>
          <a:xfrm>
            <a:off x="165302" y="138130"/>
            <a:ext cx="960122" cy="1170434"/>
          </a:xfrm>
          <a:prstGeom prst="rect">
            <a:avLst/>
          </a:prstGeom>
        </p:spPr>
      </p:pic>
      <p:sp>
        <p:nvSpPr>
          <p:cNvPr id="4" name="Rectangle 1">
            <a:extLst>
              <a:ext uri="{FF2B5EF4-FFF2-40B4-BE49-F238E27FC236}">
                <a16:creationId xmlns:a16="http://schemas.microsoft.com/office/drawing/2014/main" id="{B6AE4F2B-0392-5E71-6F7E-96775D298F0A}"/>
              </a:ext>
            </a:extLst>
          </p:cNvPr>
          <p:cNvSpPr/>
          <p:nvPr/>
        </p:nvSpPr>
        <p:spPr>
          <a:xfrm>
            <a:off x="7785100" y="0"/>
            <a:ext cx="1358900"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
        <p:nvSpPr>
          <p:cNvPr id="6" name="Google Shape;158;p31">
            <a:extLst>
              <a:ext uri="{FF2B5EF4-FFF2-40B4-BE49-F238E27FC236}">
                <a16:creationId xmlns:a16="http://schemas.microsoft.com/office/drawing/2014/main" id="{72DD75C2-A02D-0659-1053-4931B14D7FEC}"/>
              </a:ext>
            </a:extLst>
          </p:cNvPr>
          <p:cNvSpPr txBox="1">
            <a:spLocks/>
          </p:cNvSpPr>
          <p:nvPr/>
        </p:nvSpPr>
        <p:spPr>
          <a:xfrm>
            <a:off x="406469" y="3389172"/>
            <a:ext cx="5244235" cy="46166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Chemical Water Proofing</a:t>
            </a:r>
          </a:p>
        </p:txBody>
      </p:sp>
      <p:sp>
        <p:nvSpPr>
          <p:cNvPr id="7" name="TextBox 6">
            <a:extLst>
              <a:ext uri="{FF2B5EF4-FFF2-40B4-BE49-F238E27FC236}">
                <a16:creationId xmlns:a16="http://schemas.microsoft.com/office/drawing/2014/main" id="{EF203C2B-AC55-6FDA-DD90-B2506565C8D9}"/>
              </a:ext>
            </a:extLst>
          </p:cNvPr>
          <p:cNvSpPr txBox="1"/>
          <p:nvPr/>
        </p:nvSpPr>
        <p:spPr>
          <a:xfrm>
            <a:off x="816595" y="3920045"/>
            <a:ext cx="6738151" cy="830997"/>
          </a:xfrm>
          <a:prstGeom prst="rect">
            <a:avLst/>
          </a:prstGeom>
          <a:noFill/>
        </p:spPr>
        <p:txBody>
          <a:bodyPr wrap="square" rtlCol="0">
            <a:spAutoFit/>
          </a:bodyPr>
          <a:lstStyle/>
          <a:p>
            <a:pPr lvl="0" algn="just"/>
            <a:r>
              <a:rPr lang="en-US" sz="1200" dirty="0">
                <a:latin typeface="Calisto MT" panose="02040603050505030304" pitchFamily="18" charset="0"/>
              </a:rPr>
              <a:t>Specialized in chemical proofing and protective coating solutions to safeguard structures against corrosion, leakage, and chemical damage. Our services include applying epoxy, and polymer-based coatings for industrial floors, tanks, and containment areas. With precise application and durable materials, we ensure long-lasting protection and structural integrity in harsh environments. </a:t>
            </a:r>
          </a:p>
        </p:txBody>
      </p:sp>
    </p:spTree>
    <p:extLst>
      <p:ext uri="{BB962C8B-B14F-4D97-AF65-F5344CB8AC3E}">
        <p14:creationId xmlns:p14="http://schemas.microsoft.com/office/powerpoint/2010/main" val="4013217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125424" y="521309"/>
            <a:ext cx="5469200" cy="7296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003F7E"/>
                </a:solidFill>
              </a:rPr>
              <a:t>SERVICES</a:t>
            </a:r>
            <a:r>
              <a:rPr lang="en-US" sz="3500" dirty="0">
                <a:solidFill>
                  <a:srgbClr val="003F7E"/>
                </a:solidFill>
              </a:rPr>
              <a:t> </a:t>
            </a:r>
          </a:p>
        </p:txBody>
      </p:sp>
      <p:sp>
        <p:nvSpPr>
          <p:cNvPr id="3" name="TextBox 2">
            <a:extLst>
              <a:ext uri="{FF2B5EF4-FFF2-40B4-BE49-F238E27FC236}">
                <a16:creationId xmlns:a16="http://schemas.microsoft.com/office/drawing/2014/main" id="{6131A8DA-94E1-4D98-9F91-8820624717FB}"/>
              </a:ext>
            </a:extLst>
          </p:cNvPr>
          <p:cNvSpPr txBox="1"/>
          <p:nvPr/>
        </p:nvSpPr>
        <p:spPr>
          <a:xfrm>
            <a:off x="860663" y="1851073"/>
            <a:ext cx="6694083" cy="2000548"/>
          </a:xfrm>
          <a:prstGeom prst="rect">
            <a:avLst/>
          </a:prstGeom>
          <a:noFill/>
        </p:spPr>
        <p:txBody>
          <a:bodyPr wrap="square" rtlCol="0">
            <a:spAutoFit/>
          </a:bodyPr>
          <a:lstStyle/>
          <a:p>
            <a:pPr lvl="0" algn="just"/>
            <a:r>
              <a:rPr lang="en-US" sz="1200" dirty="0" err="1">
                <a:latin typeface="Calisto MT" panose="02040603050505030304" pitchFamily="18" charset="0"/>
              </a:rPr>
              <a:t>Viscon</a:t>
            </a:r>
            <a:r>
              <a:rPr lang="en-US" sz="1200" dirty="0">
                <a:latin typeface="Calisto MT" panose="02040603050505030304" pitchFamily="18" charset="0"/>
              </a:rPr>
              <a:t> provides comprehensive (MEP) engineering services that form the foundation of modern infrastructure. Our expertise encompasses the design, supply, installation, testing, and commissioning of complete MEP systems for residential, commercial, and industrial developments.</a:t>
            </a:r>
          </a:p>
          <a:p>
            <a:pPr lvl="0" algn="just"/>
            <a:endParaRPr lang="en-US" sz="1200" dirty="0">
              <a:latin typeface="Calisto MT" panose="02040603050505030304" pitchFamily="18" charset="0"/>
            </a:endParaRPr>
          </a:p>
          <a:p>
            <a:pPr lvl="0" algn="just"/>
            <a:r>
              <a:rPr lang="en-US" sz="1200" dirty="0">
                <a:latin typeface="Calisto MT" panose="02040603050505030304" pitchFamily="18" charset="0"/>
              </a:rPr>
              <a:t>We offer integrated solutions in HVAC systems, electrical power distribution, lighting and low-voltage systems, and plumbing and drainage networks. By combining technical excellence with innovation, we ensure that every system we deliver is energy-efficient, cost-effective, and fully compliant with international standards.</a:t>
            </a:r>
          </a:p>
          <a:p>
            <a:pPr lvl="0" algn="just"/>
            <a:endParaRPr lang="en-US" dirty="0"/>
          </a:p>
          <a:p>
            <a:pPr lvl="0" algn="just"/>
            <a:endParaRPr lang="en-US" dirty="0">
              <a:latin typeface="Calisto MT" panose="02040603050505030304" pitchFamily="18" charset="0"/>
            </a:endParaRPr>
          </a:p>
        </p:txBody>
      </p:sp>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406470" y="1337816"/>
            <a:ext cx="5182800" cy="49205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600" dirty="0">
                <a:solidFill>
                  <a:srgbClr val="003F7E"/>
                </a:solidFill>
              </a:rPr>
              <a:t>Mechanical, Electrical, and Plumbing (MEP)</a:t>
            </a:r>
          </a:p>
        </p:txBody>
      </p:sp>
      <p:pic>
        <p:nvPicPr>
          <p:cNvPr id="11" name="Picture 10">
            <a:extLst>
              <a:ext uri="{FF2B5EF4-FFF2-40B4-BE49-F238E27FC236}">
                <a16:creationId xmlns:a16="http://schemas.microsoft.com/office/drawing/2014/main" id="{6531D141-E7DC-4A7D-8431-2B44E0AE5CC9}"/>
              </a:ext>
            </a:extLst>
          </p:cNvPr>
          <p:cNvPicPr>
            <a:picLocks noChangeAspect="1"/>
          </p:cNvPicPr>
          <p:nvPr/>
        </p:nvPicPr>
        <p:blipFill>
          <a:blip r:embed="rId3"/>
          <a:stretch>
            <a:fillRect/>
          </a:stretch>
        </p:blipFill>
        <p:spPr>
          <a:xfrm>
            <a:off x="165302" y="138130"/>
            <a:ext cx="960122" cy="1170434"/>
          </a:xfrm>
          <a:prstGeom prst="rect">
            <a:avLst/>
          </a:prstGeom>
        </p:spPr>
      </p:pic>
      <p:sp>
        <p:nvSpPr>
          <p:cNvPr id="4" name="Rectangle 1">
            <a:extLst>
              <a:ext uri="{FF2B5EF4-FFF2-40B4-BE49-F238E27FC236}">
                <a16:creationId xmlns:a16="http://schemas.microsoft.com/office/drawing/2014/main" id="{FC8045BE-FA07-135C-E832-99412CBEE22D}"/>
              </a:ext>
            </a:extLst>
          </p:cNvPr>
          <p:cNvSpPr/>
          <p:nvPr/>
        </p:nvSpPr>
        <p:spPr>
          <a:xfrm>
            <a:off x="7753350" y="0"/>
            <a:ext cx="1390650"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905711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AE7F66A4-DC3F-6249-54C6-25997B26C51F}"/>
            </a:ext>
          </a:extLst>
        </p:cNvPr>
        <p:cNvGrpSpPr/>
        <p:nvPr/>
      </p:nvGrpSpPr>
      <p:grpSpPr>
        <a:xfrm>
          <a:off x="0" y="0"/>
          <a:ext cx="0" cy="0"/>
          <a:chOff x="0" y="0"/>
          <a:chExt cx="0" cy="0"/>
        </a:xfrm>
      </p:grpSpPr>
      <p:sp>
        <p:nvSpPr>
          <p:cNvPr id="158" name="Google Shape;158;p31">
            <a:extLst>
              <a:ext uri="{FF2B5EF4-FFF2-40B4-BE49-F238E27FC236}">
                <a16:creationId xmlns:a16="http://schemas.microsoft.com/office/drawing/2014/main" id="{554C7BDC-6D79-F1BE-EB63-24110BDDF4FB}"/>
              </a:ext>
            </a:extLst>
          </p:cNvPr>
          <p:cNvSpPr txBox="1">
            <a:spLocks noGrp="1"/>
          </p:cNvSpPr>
          <p:nvPr>
            <p:ph type="ctrTitle"/>
          </p:nvPr>
        </p:nvSpPr>
        <p:spPr>
          <a:xfrm>
            <a:off x="1125424" y="521309"/>
            <a:ext cx="5469200" cy="7296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003F7E"/>
                </a:solidFill>
              </a:rPr>
              <a:t>SERVICES</a:t>
            </a:r>
            <a:r>
              <a:rPr lang="en-US" sz="3500" dirty="0">
                <a:solidFill>
                  <a:srgbClr val="003F7E"/>
                </a:solidFill>
              </a:rPr>
              <a:t> </a:t>
            </a:r>
          </a:p>
        </p:txBody>
      </p:sp>
      <p:sp>
        <p:nvSpPr>
          <p:cNvPr id="3" name="TextBox 2">
            <a:extLst>
              <a:ext uri="{FF2B5EF4-FFF2-40B4-BE49-F238E27FC236}">
                <a16:creationId xmlns:a16="http://schemas.microsoft.com/office/drawing/2014/main" id="{6DFDE1CB-355D-2BF7-0BFF-9735729717DF}"/>
              </a:ext>
            </a:extLst>
          </p:cNvPr>
          <p:cNvSpPr txBox="1"/>
          <p:nvPr/>
        </p:nvSpPr>
        <p:spPr>
          <a:xfrm>
            <a:off x="610308" y="2629542"/>
            <a:ext cx="6944437" cy="1092607"/>
          </a:xfrm>
          <a:prstGeom prst="rect">
            <a:avLst/>
          </a:prstGeom>
          <a:noFill/>
        </p:spPr>
        <p:txBody>
          <a:bodyPr wrap="square" rtlCol="0">
            <a:spAutoFit/>
          </a:bodyPr>
          <a:lstStyle/>
          <a:p>
            <a:pPr lvl="0" algn="just">
              <a:lnSpc>
                <a:spcPct val="150000"/>
              </a:lnSpc>
            </a:pPr>
            <a:r>
              <a:rPr lang="en-US" sz="1200" b="1" dirty="0">
                <a:solidFill>
                  <a:srgbClr val="003F7E"/>
                </a:solidFill>
                <a:latin typeface="Montserrat"/>
              </a:rPr>
              <a:t>Heating Ventilation And Air Conditioning (HVAC)</a:t>
            </a:r>
            <a:endParaRPr lang="en-US" sz="1200" b="1" dirty="0">
              <a:solidFill>
                <a:srgbClr val="003F7E"/>
              </a:solidFill>
              <a:latin typeface="Montserrat"/>
              <a:sym typeface="Montserrat"/>
            </a:endParaRPr>
          </a:p>
          <a:p>
            <a:pPr lvl="0" algn="just"/>
            <a:r>
              <a:rPr lang="en-US" sz="1100" dirty="0">
                <a:latin typeface="Calisto MT" panose="02040603050505030304" pitchFamily="18" charset="0"/>
              </a:rPr>
              <a:t>Provides advanced smart solutions dedicated to optimizing HVAC performance through intelligent automation and centralized control. Also provide centralized control of chillers, AHUs, and ventilation systems, ensuring optimal performance with reduced energy consumption.. </a:t>
            </a:r>
          </a:p>
          <a:p>
            <a:pPr lvl="0" algn="just"/>
            <a:endParaRPr lang="en-US" dirty="0">
              <a:latin typeface="Calisto MT" panose="02040603050505030304" pitchFamily="18" charset="0"/>
            </a:endParaRPr>
          </a:p>
        </p:txBody>
      </p:sp>
      <p:sp>
        <p:nvSpPr>
          <p:cNvPr id="25" name="Google Shape;158;p31">
            <a:extLst>
              <a:ext uri="{FF2B5EF4-FFF2-40B4-BE49-F238E27FC236}">
                <a16:creationId xmlns:a16="http://schemas.microsoft.com/office/drawing/2014/main" id="{4BACEF6E-59DF-AC59-0629-1CB2EBC34FA3}"/>
              </a:ext>
            </a:extLst>
          </p:cNvPr>
          <p:cNvSpPr txBox="1">
            <a:spLocks/>
          </p:cNvSpPr>
          <p:nvPr/>
        </p:nvSpPr>
        <p:spPr>
          <a:xfrm>
            <a:off x="517365" y="1289455"/>
            <a:ext cx="6077259" cy="50555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r>
              <a:rPr lang="en-US" sz="1600" dirty="0">
                <a:solidFill>
                  <a:srgbClr val="003F7E"/>
                </a:solidFill>
              </a:rPr>
              <a:t>INTEGRATED BUILDING MANAGEMENT SYSTEM (IBMS)  </a:t>
            </a:r>
          </a:p>
        </p:txBody>
      </p:sp>
      <p:sp>
        <p:nvSpPr>
          <p:cNvPr id="26" name="TextBox 25">
            <a:extLst>
              <a:ext uri="{FF2B5EF4-FFF2-40B4-BE49-F238E27FC236}">
                <a16:creationId xmlns:a16="http://schemas.microsoft.com/office/drawing/2014/main" id="{413EE734-4BAA-93DC-2B68-2D80695E57A3}"/>
              </a:ext>
            </a:extLst>
          </p:cNvPr>
          <p:cNvSpPr txBox="1"/>
          <p:nvPr/>
        </p:nvSpPr>
        <p:spPr>
          <a:xfrm>
            <a:off x="610309" y="3539626"/>
            <a:ext cx="6944436" cy="646331"/>
          </a:xfrm>
          <a:prstGeom prst="rect">
            <a:avLst/>
          </a:prstGeom>
          <a:noFill/>
        </p:spPr>
        <p:txBody>
          <a:bodyPr wrap="square" rtlCol="0">
            <a:spAutoFit/>
          </a:bodyPr>
          <a:lstStyle/>
          <a:p>
            <a:pPr lvl="0" algn="just"/>
            <a:r>
              <a:rPr lang="en-US" sz="1200" b="1" dirty="0">
                <a:solidFill>
                  <a:srgbClr val="003F7E"/>
                </a:solidFill>
                <a:latin typeface="Montserrat"/>
              </a:rPr>
              <a:t>Fire Fighting &amp; Alarm </a:t>
            </a:r>
            <a:r>
              <a:rPr lang="en-US" sz="1200" b="1" dirty="0">
                <a:solidFill>
                  <a:srgbClr val="003F7E"/>
                </a:solidFill>
                <a:latin typeface="Montserrat"/>
                <a:sym typeface="Montserrat"/>
              </a:rPr>
              <a:t>System </a:t>
            </a:r>
          </a:p>
          <a:p>
            <a:pPr lvl="0" algn="just"/>
            <a:r>
              <a:rPr lang="en-US" sz="1200" dirty="0">
                <a:latin typeface="Calisto MT" panose="02040603050505030304" pitchFamily="18" charset="0"/>
              </a:rPr>
              <a:t>Design and installation of fire alarms, Smart coordination between fire alarms, smoke extraction, and emergency response systems.</a:t>
            </a:r>
          </a:p>
        </p:txBody>
      </p:sp>
      <p:sp>
        <p:nvSpPr>
          <p:cNvPr id="28" name="TextBox 27">
            <a:extLst>
              <a:ext uri="{FF2B5EF4-FFF2-40B4-BE49-F238E27FC236}">
                <a16:creationId xmlns:a16="http://schemas.microsoft.com/office/drawing/2014/main" id="{163D3358-C897-ED45-AD05-A0B3900A27EF}"/>
              </a:ext>
            </a:extLst>
          </p:cNvPr>
          <p:cNvSpPr txBox="1"/>
          <p:nvPr/>
        </p:nvSpPr>
        <p:spPr>
          <a:xfrm>
            <a:off x="610310" y="4226147"/>
            <a:ext cx="6944435" cy="461665"/>
          </a:xfrm>
          <a:prstGeom prst="rect">
            <a:avLst/>
          </a:prstGeom>
          <a:noFill/>
        </p:spPr>
        <p:txBody>
          <a:bodyPr wrap="square" rtlCol="0">
            <a:spAutoFit/>
          </a:bodyPr>
          <a:lstStyle/>
          <a:p>
            <a:pPr lvl="0" algn="just"/>
            <a:r>
              <a:rPr lang="en-US" sz="1200" b="1" dirty="0">
                <a:solidFill>
                  <a:srgbClr val="003F7E"/>
                </a:solidFill>
                <a:latin typeface="Montserrat"/>
                <a:sym typeface="Montserrat"/>
              </a:rPr>
              <a:t>CCTV &amp; Access Control </a:t>
            </a:r>
          </a:p>
          <a:p>
            <a:pPr lvl="0" algn="just"/>
            <a:r>
              <a:rPr lang="en-US" sz="1200" dirty="0">
                <a:latin typeface="Calisto MT" panose="02040603050505030304" pitchFamily="18" charset="0"/>
              </a:rPr>
              <a:t>Design and Installation of CCTV, access control, intrusion deduction &amp; monitoring systems.</a:t>
            </a:r>
          </a:p>
        </p:txBody>
      </p:sp>
      <p:pic>
        <p:nvPicPr>
          <p:cNvPr id="11" name="Picture 10">
            <a:extLst>
              <a:ext uri="{FF2B5EF4-FFF2-40B4-BE49-F238E27FC236}">
                <a16:creationId xmlns:a16="http://schemas.microsoft.com/office/drawing/2014/main" id="{AF83B6A9-6841-1827-FA97-A353AE913DB4}"/>
              </a:ext>
            </a:extLst>
          </p:cNvPr>
          <p:cNvPicPr>
            <a:picLocks noChangeAspect="1"/>
          </p:cNvPicPr>
          <p:nvPr/>
        </p:nvPicPr>
        <p:blipFill>
          <a:blip r:embed="rId3"/>
          <a:stretch>
            <a:fillRect/>
          </a:stretch>
        </p:blipFill>
        <p:spPr>
          <a:xfrm>
            <a:off x="165302" y="138130"/>
            <a:ext cx="960122" cy="1170434"/>
          </a:xfrm>
          <a:prstGeom prst="rect">
            <a:avLst/>
          </a:prstGeom>
        </p:spPr>
      </p:pic>
      <p:sp>
        <p:nvSpPr>
          <p:cNvPr id="4" name="Rectangle 1">
            <a:extLst>
              <a:ext uri="{FF2B5EF4-FFF2-40B4-BE49-F238E27FC236}">
                <a16:creationId xmlns:a16="http://schemas.microsoft.com/office/drawing/2014/main" id="{847C6EA5-8B4E-46F8-4731-72C47528F168}"/>
              </a:ext>
            </a:extLst>
          </p:cNvPr>
          <p:cNvSpPr/>
          <p:nvPr/>
        </p:nvSpPr>
        <p:spPr>
          <a:xfrm>
            <a:off x="7734300" y="0"/>
            <a:ext cx="1409700"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
        <p:nvSpPr>
          <p:cNvPr id="5" name="TextBox 4">
            <a:extLst>
              <a:ext uri="{FF2B5EF4-FFF2-40B4-BE49-F238E27FC236}">
                <a16:creationId xmlns:a16="http://schemas.microsoft.com/office/drawing/2014/main" id="{C0532D1A-8790-0F08-96FB-A87AFEEE4180}"/>
              </a:ext>
            </a:extLst>
          </p:cNvPr>
          <p:cNvSpPr txBox="1"/>
          <p:nvPr/>
        </p:nvSpPr>
        <p:spPr>
          <a:xfrm>
            <a:off x="610308" y="1707758"/>
            <a:ext cx="6944437" cy="830997"/>
          </a:xfrm>
          <a:prstGeom prst="rect">
            <a:avLst/>
          </a:prstGeom>
          <a:noFill/>
        </p:spPr>
        <p:txBody>
          <a:bodyPr wrap="square">
            <a:spAutoFit/>
          </a:bodyPr>
          <a:lstStyle/>
          <a:p>
            <a:pPr algn="just"/>
            <a:r>
              <a:rPr lang="en-US" sz="1200" dirty="0" err="1">
                <a:latin typeface="Calisto MT" panose="02040603050505030304" pitchFamily="18" charset="0"/>
              </a:rPr>
              <a:t>Viscon</a:t>
            </a:r>
            <a:r>
              <a:rPr lang="en-US" sz="1200" dirty="0">
                <a:latin typeface="Calisto MT" panose="02040603050505030304" pitchFamily="18" charset="0"/>
              </a:rPr>
              <a:t> Engineering &amp; Tech provides comprehensive (IBMS) solutions designed to optimize building performance, enhance energy efficiency, and ensure occupant comfort and safety. Our IBMS integrates all major building services including HVAC, Lighting, Power, Safety, and Security into a single intelligent platform that allows centralized monitoring and control.</a:t>
            </a:r>
          </a:p>
        </p:txBody>
      </p:sp>
    </p:spTree>
    <p:extLst>
      <p:ext uri="{BB962C8B-B14F-4D97-AF65-F5344CB8AC3E}">
        <p14:creationId xmlns:p14="http://schemas.microsoft.com/office/powerpoint/2010/main" val="1029934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2F54FA49-D5FF-C3BF-1E9D-25D4D51D968A}"/>
            </a:ext>
          </a:extLst>
        </p:cNvPr>
        <p:cNvGrpSpPr/>
        <p:nvPr/>
      </p:nvGrpSpPr>
      <p:grpSpPr>
        <a:xfrm>
          <a:off x="0" y="0"/>
          <a:ext cx="0" cy="0"/>
          <a:chOff x="0" y="0"/>
          <a:chExt cx="0" cy="0"/>
        </a:xfrm>
      </p:grpSpPr>
      <p:sp>
        <p:nvSpPr>
          <p:cNvPr id="158" name="Google Shape;158;p31">
            <a:extLst>
              <a:ext uri="{FF2B5EF4-FFF2-40B4-BE49-F238E27FC236}">
                <a16:creationId xmlns:a16="http://schemas.microsoft.com/office/drawing/2014/main" id="{A84AD2CD-1F40-5792-DBCD-D7C40E8BC54E}"/>
              </a:ext>
            </a:extLst>
          </p:cNvPr>
          <p:cNvSpPr txBox="1">
            <a:spLocks noGrp="1"/>
          </p:cNvSpPr>
          <p:nvPr>
            <p:ph type="ctrTitle" idx="4294967295"/>
          </p:nvPr>
        </p:nvSpPr>
        <p:spPr>
          <a:xfrm>
            <a:off x="1125424" y="565470"/>
            <a:ext cx="5468938" cy="730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solidFill>
                  <a:srgbClr val="003F7E"/>
                </a:solidFill>
              </a:rPr>
              <a:t>LIST OF COMPLETED PROJECTS </a:t>
            </a:r>
          </a:p>
        </p:txBody>
      </p:sp>
      <p:sp>
        <p:nvSpPr>
          <p:cNvPr id="2" name="Rectangle 1">
            <a:extLst>
              <a:ext uri="{FF2B5EF4-FFF2-40B4-BE49-F238E27FC236}">
                <a16:creationId xmlns:a16="http://schemas.microsoft.com/office/drawing/2014/main" id="{9D97E5F4-63E4-271D-960E-851E5ED2C9AB}"/>
              </a:ext>
            </a:extLst>
          </p:cNvPr>
          <p:cNvSpPr/>
          <p:nvPr/>
        </p:nvSpPr>
        <p:spPr>
          <a:xfrm>
            <a:off x="8183877" y="0"/>
            <a:ext cx="960122"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
        <p:nvSpPr>
          <p:cNvPr id="25" name="Google Shape;158;p31">
            <a:extLst>
              <a:ext uri="{FF2B5EF4-FFF2-40B4-BE49-F238E27FC236}">
                <a16:creationId xmlns:a16="http://schemas.microsoft.com/office/drawing/2014/main" id="{54E052D5-790F-6181-B03F-ABA99DB64E14}"/>
              </a:ext>
            </a:extLst>
          </p:cNvPr>
          <p:cNvSpPr txBox="1">
            <a:spLocks/>
          </p:cNvSpPr>
          <p:nvPr/>
        </p:nvSpPr>
        <p:spPr>
          <a:xfrm>
            <a:off x="406469" y="1345516"/>
            <a:ext cx="6077259" cy="50555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endParaRPr lang="en-US" sz="1600" dirty="0">
              <a:solidFill>
                <a:srgbClr val="003F7E"/>
              </a:solidFill>
            </a:endParaRPr>
          </a:p>
        </p:txBody>
      </p:sp>
      <p:sp>
        <p:nvSpPr>
          <p:cNvPr id="26" name="TextBox 25">
            <a:extLst>
              <a:ext uri="{FF2B5EF4-FFF2-40B4-BE49-F238E27FC236}">
                <a16:creationId xmlns:a16="http://schemas.microsoft.com/office/drawing/2014/main" id="{A7236E35-B37D-EDA6-37ED-E51A783C115D}"/>
              </a:ext>
            </a:extLst>
          </p:cNvPr>
          <p:cNvSpPr txBox="1"/>
          <p:nvPr/>
        </p:nvSpPr>
        <p:spPr>
          <a:xfrm>
            <a:off x="860663" y="2631120"/>
            <a:ext cx="6077259" cy="276999"/>
          </a:xfrm>
          <a:prstGeom prst="rect">
            <a:avLst/>
          </a:prstGeom>
          <a:noFill/>
        </p:spPr>
        <p:txBody>
          <a:bodyPr wrap="square" rtlCol="0">
            <a:spAutoFit/>
          </a:bodyPr>
          <a:lstStyle/>
          <a:p>
            <a:pPr lvl="0" algn="just"/>
            <a:r>
              <a:rPr lang="en-US" sz="1200" b="1" dirty="0">
                <a:solidFill>
                  <a:srgbClr val="003F7E"/>
                </a:solidFill>
                <a:latin typeface="Montserrat"/>
              </a:rPr>
              <a:t> </a:t>
            </a:r>
            <a:endParaRPr lang="en-US" dirty="0">
              <a:latin typeface="Calisto MT" panose="02040603050505030304" pitchFamily="18" charset="0"/>
            </a:endParaRPr>
          </a:p>
        </p:txBody>
      </p:sp>
      <p:pic>
        <p:nvPicPr>
          <p:cNvPr id="11" name="Picture 10">
            <a:extLst>
              <a:ext uri="{FF2B5EF4-FFF2-40B4-BE49-F238E27FC236}">
                <a16:creationId xmlns:a16="http://schemas.microsoft.com/office/drawing/2014/main" id="{D387B25E-4AE8-913D-FE4D-A67262986904}"/>
              </a:ext>
            </a:extLst>
          </p:cNvPr>
          <p:cNvPicPr>
            <a:picLocks noChangeAspect="1"/>
          </p:cNvPicPr>
          <p:nvPr/>
        </p:nvPicPr>
        <p:blipFill>
          <a:blip r:embed="rId3"/>
          <a:stretch>
            <a:fillRect/>
          </a:stretch>
        </p:blipFill>
        <p:spPr>
          <a:xfrm>
            <a:off x="165302" y="138130"/>
            <a:ext cx="960122" cy="1170434"/>
          </a:xfrm>
          <a:prstGeom prst="rect">
            <a:avLst/>
          </a:prstGeom>
        </p:spPr>
      </p:pic>
      <p:graphicFrame>
        <p:nvGraphicFramePr>
          <p:cNvPr id="4" name="Table 3">
            <a:extLst>
              <a:ext uri="{FF2B5EF4-FFF2-40B4-BE49-F238E27FC236}">
                <a16:creationId xmlns:a16="http://schemas.microsoft.com/office/drawing/2014/main" id="{A9830785-BB65-207F-C24A-20A54753E26E}"/>
              </a:ext>
            </a:extLst>
          </p:cNvPr>
          <p:cNvGraphicFramePr>
            <a:graphicFrameLocks noGrp="1"/>
          </p:cNvGraphicFramePr>
          <p:nvPr>
            <p:extLst>
              <p:ext uri="{D42A27DB-BD31-4B8C-83A1-F6EECF244321}">
                <p14:modId xmlns:p14="http://schemas.microsoft.com/office/powerpoint/2010/main" val="1134947624"/>
              </p:ext>
            </p:extLst>
          </p:nvPr>
        </p:nvGraphicFramePr>
        <p:xfrm>
          <a:off x="517539" y="1381579"/>
          <a:ext cx="7765798" cy="3356567"/>
        </p:xfrm>
        <a:graphic>
          <a:graphicData uri="http://schemas.openxmlformats.org/drawingml/2006/table">
            <a:tbl>
              <a:tblPr firstRow="1" bandRow="1">
                <a:tableStyleId>{937DBE58-439A-43C2-9BEE-16E4DBF8C7AB}</a:tableStyleId>
              </a:tblPr>
              <a:tblGrid>
                <a:gridCol w="363243">
                  <a:extLst>
                    <a:ext uri="{9D8B030D-6E8A-4147-A177-3AD203B41FA5}">
                      <a16:colId xmlns:a16="http://schemas.microsoft.com/office/drawing/2014/main" val="2653399223"/>
                    </a:ext>
                  </a:extLst>
                </a:gridCol>
                <a:gridCol w="3630706">
                  <a:extLst>
                    <a:ext uri="{9D8B030D-6E8A-4147-A177-3AD203B41FA5}">
                      <a16:colId xmlns:a16="http://schemas.microsoft.com/office/drawing/2014/main" val="1821195311"/>
                    </a:ext>
                  </a:extLst>
                </a:gridCol>
                <a:gridCol w="860612">
                  <a:extLst>
                    <a:ext uri="{9D8B030D-6E8A-4147-A177-3AD203B41FA5}">
                      <a16:colId xmlns:a16="http://schemas.microsoft.com/office/drawing/2014/main" val="3686222043"/>
                    </a:ext>
                  </a:extLst>
                </a:gridCol>
                <a:gridCol w="1391771">
                  <a:extLst>
                    <a:ext uri="{9D8B030D-6E8A-4147-A177-3AD203B41FA5}">
                      <a16:colId xmlns:a16="http://schemas.microsoft.com/office/drawing/2014/main" val="3099338594"/>
                    </a:ext>
                  </a:extLst>
                </a:gridCol>
                <a:gridCol w="712694">
                  <a:extLst>
                    <a:ext uri="{9D8B030D-6E8A-4147-A177-3AD203B41FA5}">
                      <a16:colId xmlns:a16="http://schemas.microsoft.com/office/drawing/2014/main" val="100084337"/>
                    </a:ext>
                  </a:extLst>
                </a:gridCol>
                <a:gridCol w="806772">
                  <a:extLst>
                    <a:ext uri="{9D8B030D-6E8A-4147-A177-3AD203B41FA5}">
                      <a16:colId xmlns:a16="http://schemas.microsoft.com/office/drawing/2014/main" val="2445015444"/>
                    </a:ext>
                  </a:extLst>
                </a:gridCol>
              </a:tblGrid>
              <a:tr h="370840">
                <a:tc>
                  <a:txBody>
                    <a:bodyPr/>
                    <a:lstStyle/>
                    <a:p>
                      <a:r>
                        <a:rPr lang="en-US" sz="900" b="1" i="0" u="none" strike="noStrike" cap="none" dirty="0">
                          <a:solidFill>
                            <a:srgbClr val="003F7E"/>
                          </a:solidFill>
                          <a:latin typeface="Montserrat"/>
                          <a:sym typeface="Montserrat"/>
                        </a:rPr>
                        <a:t>Sr No</a:t>
                      </a:r>
                    </a:p>
                  </a:txBody>
                  <a:tcPr/>
                </a:tc>
                <a:tc>
                  <a:txBody>
                    <a:bodyPr/>
                    <a:lstStyle/>
                    <a:p>
                      <a:r>
                        <a:rPr lang="en-US" sz="900" b="1" i="0" u="none" strike="noStrike" cap="none" dirty="0">
                          <a:solidFill>
                            <a:srgbClr val="003F7E"/>
                          </a:solidFill>
                          <a:latin typeface="Montserrat"/>
                          <a:sym typeface="Montserrat"/>
                        </a:rPr>
                        <a:t>Project Description</a:t>
                      </a:r>
                    </a:p>
                  </a:txBody>
                  <a:tcPr/>
                </a:tc>
                <a:tc>
                  <a:txBody>
                    <a:bodyPr/>
                    <a:lstStyle/>
                    <a:p>
                      <a:r>
                        <a:rPr lang="en-US" sz="900" b="1" i="0" u="none" strike="noStrike" cap="none" dirty="0">
                          <a:solidFill>
                            <a:srgbClr val="003F7E"/>
                          </a:solidFill>
                          <a:latin typeface="Montserrat"/>
                          <a:sym typeface="Montserrat"/>
                        </a:rPr>
                        <a:t>Status</a:t>
                      </a:r>
                    </a:p>
                  </a:txBody>
                  <a:tcPr/>
                </a:tc>
                <a:tc>
                  <a:txBody>
                    <a:bodyPr/>
                    <a:lstStyle/>
                    <a:p>
                      <a:r>
                        <a:rPr lang="en-US" sz="900" b="1" i="0" u="none" strike="noStrike" cap="none" dirty="0">
                          <a:solidFill>
                            <a:srgbClr val="003F7E"/>
                          </a:solidFill>
                          <a:latin typeface="Montserrat"/>
                          <a:sym typeface="Montserrat"/>
                        </a:rPr>
                        <a:t>Client / Owner</a:t>
                      </a:r>
                    </a:p>
                  </a:txBody>
                  <a:tcPr/>
                </a:tc>
                <a:tc>
                  <a:txBody>
                    <a:bodyPr/>
                    <a:lstStyle/>
                    <a:p>
                      <a:r>
                        <a:rPr lang="en-US" sz="900" b="1" i="0" u="none" strike="noStrike" cap="none" dirty="0">
                          <a:solidFill>
                            <a:srgbClr val="003F7E"/>
                          </a:solidFill>
                          <a:latin typeface="Montserrat"/>
                          <a:sym typeface="Montserrat"/>
                        </a:rPr>
                        <a:t>Contract Value</a:t>
                      </a:r>
                    </a:p>
                  </a:txBody>
                  <a:tcPr/>
                </a:tc>
                <a:tc>
                  <a:txBody>
                    <a:bodyPr/>
                    <a:lstStyle/>
                    <a:p>
                      <a:r>
                        <a:rPr lang="en-US" sz="900" b="1" i="0" u="none" strike="noStrike" cap="none" dirty="0">
                          <a:solidFill>
                            <a:srgbClr val="003F7E"/>
                          </a:solidFill>
                          <a:latin typeface="Montserrat"/>
                          <a:sym typeface="Montserrat"/>
                        </a:rPr>
                        <a:t>Project Value (Rs)</a:t>
                      </a:r>
                    </a:p>
                  </a:txBody>
                  <a:tcPr/>
                </a:tc>
                <a:extLst>
                  <a:ext uri="{0D108BD9-81ED-4DB2-BD59-A6C34878D82A}">
                    <a16:rowId xmlns:a16="http://schemas.microsoft.com/office/drawing/2014/main" val="1271740295"/>
                  </a:ext>
                </a:extLst>
              </a:tr>
              <a:tr h="0">
                <a:tc>
                  <a:txBody>
                    <a:bodyPr/>
                    <a:lstStyle/>
                    <a:p>
                      <a:pPr algn="ctr"/>
                      <a:r>
                        <a:rPr lang="en-US" sz="800" b="0" i="0" u="none" strike="noStrike" cap="none" dirty="0">
                          <a:solidFill>
                            <a:schemeClr val="tx1"/>
                          </a:solidFill>
                          <a:effectLst/>
                          <a:latin typeface="Calisto MT" panose="02040603050505030304" pitchFamily="18" charset="0"/>
                          <a:cs typeface="Arial"/>
                          <a:sym typeface="Arial"/>
                        </a:rPr>
                        <a:t>1</a:t>
                      </a:r>
                    </a:p>
                  </a:txBody>
                  <a:tcPr anchor="ctr"/>
                </a:tc>
                <a:tc>
                  <a:txBody>
                    <a:bodyPr/>
                    <a:lstStyle/>
                    <a:p>
                      <a:pPr algn="l">
                        <a:buNone/>
                      </a:pPr>
                      <a:r>
                        <a:rPr lang="en-US" sz="800" b="0" i="0" dirty="0">
                          <a:solidFill>
                            <a:schemeClr val="tx1"/>
                          </a:solidFill>
                          <a:effectLst/>
                          <a:latin typeface="Calisto MT" panose="02040603050505030304" pitchFamily="18" charset="0"/>
                        </a:rPr>
                        <a:t>Hassan Nawaz Khokhar Farmhouse Chakkri, M2, ISB</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Total Land=20 Kanal,         Area= 15000 </a:t>
                      </a:r>
                      <a:r>
                        <a:rPr lang="en-US" sz="800" b="0" i="0" dirty="0" err="1">
                          <a:solidFill>
                            <a:schemeClr val="tx1"/>
                          </a:solidFill>
                          <a:effectLst/>
                          <a:latin typeface="Calisto MT" panose="02040603050505030304" pitchFamily="18" charset="0"/>
                        </a:rPr>
                        <a:t>sft</a:t>
                      </a:r>
                      <a:endParaRPr lang="en-US" sz="800" dirty="0">
                        <a:solidFill>
                          <a:schemeClr val="tx1"/>
                        </a:solidFill>
                        <a:effectLst/>
                        <a:latin typeface="Calisto MT" panose="02040603050505030304" pitchFamily="18" charset="0"/>
                      </a:endParaRPr>
                    </a:p>
                  </a:txBody>
                  <a:tcPr anchor="ctr"/>
                </a:tc>
                <a:tc>
                  <a:txBody>
                    <a:bodyPr/>
                    <a:lstStyle/>
                    <a:p>
                      <a:pPr algn="l"/>
                      <a:r>
                        <a:rPr lang="en-US" sz="800" b="0" i="0" u="none" strike="noStrike" cap="none" dirty="0">
                          <a:solidFill>
                            <a:schemeClr val="tx1"/>
                          </a:solidFill>
                          <a:effectLst/>
                          <a:latin typeface="Calisto MT" panose="02040603050505030304" pitchFamily="18" charset="0"/>
                          <a:cs typeface="Arial"/>
                          <a:sym typeface="Arial"/>
                        </a:rPr>
                        <a:t>On-going</a:t>
                      </a:r>
                    </a:p>
                  </a:txBody>
                  <a:tcPr/>
                </a:tc>
                <a:tc>
                  <a:txBody>
                    <a:bodyPr/>
                    <a:lstStyle/>
                    <a:p>
                      <a:pPr algn="l">
                        <a:buNone/>
                      </a:pPr>
                      <a:r>
                        <a:rPr lang="en-US" sz="800" b="0" i="0" dirty="0" err="1">
                          <a:solidFill>
                            <a:schemeClr val="tx1"/>
                          </a:solidFill>
                          <a:effectLst/>
                          <a:latin typeface="Calisto MT" panose="02040603050505030304" pitchFamily="18" charset="0"/>
                        </a:rPr>
                        <a:t>Mr</a:t>
                      </a:r>
                      <a:r>
                        <a:rPr lang="en-US" sz="800" b="0" i="0" dirty="0">
                          <a:solidFill>
                            <a:schemeClr val="tx1"/>
                          </a:solidFill>
                          <a:effectLst/>
                          <a:latin typeface="Calisto MT" panose="02040603050505030304" pitchFamily="18" charset="0"/>
                        </a:rPr>
                        <a:t> Hassan Nawaz</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Khokhar (Businessman)</a:t>
                      </a:r>
                      <a:endParaRPr lang="en-US" sz="800" dirty="0">
                        <a:solidFill>
                          <a:schemeClr val="tx1"/>
                        </a:solidFill>
                        <a:effectLst/>
                        <a:latin typeface="Calisto MT" panose="02040603050505030304" pitchFamily="18" charset="0"/>
                      </a:endParaRPr>
                    </a:p>
                  </a:txBody>
                  <a:tcPr anchor="ctr"/>
                </a:tc>
                <a:tc>
                  <a:txBody>
                    <a:bodyPr/>
                    <a:lstStyle/>
                    <a:p>
                      <a:pPr marR="0" algn="ctr" rtl="0">
                        <a:lnSpc>
                          <a:spcPct val="100000"/>
                        </a:lnSpc>
                        <a:spcBef>
                          <a:spcPts val="0"/>
                        </a:spcBef>
                        <a:spcAft>
                          <a:spcPts val="0"/>
                        </a:spcAft>
                        <a:buClr>
                          <a:srgbClr val="000000"/>
                        </a:buClr>
                        <a:buFont typeface="Arial"/>
                      </a:pPr>
                      <a:r>
                        <a:rPr lang="en-US" sz="800" b="0" i="0" u="none" strike="noStrike" cap="none" dirty="0">
                          <a:solidFill>
                            <a:schemeClr val="tx1"/>
                          </a:solidFill>
                          <a:effectLst/>
                          <a:latin typeface="Calisto MT" panose="02040603050505030304" pitchFamily="18" charset="0"/>
                          <a:cs typeface="Arial"/>
                          <a:sym typeface="Arial"/>
                        </a:rPr>
                        <a:t>25</a:t>
                      </a:r>
                    </a:p>
                  </a:txBody>
                  <a:tcPr anchor="ctr"/>
                </a:tc>
                <a:tc>
                  <a:txBody>
                    <a:bodyPr/>
                    <a:lstStyle/>
                    <a:p>
                      <a:pPr marR="0" algn="l" rtl="0">
                        <a:lnSpc>
                          <a:spcPct val="100000"/>
                        </a:lnSpc>
                        <a:spcBef>
                          <a:spcPts val="0"/>
                        </a:spcBef>
                        <a:spcAft>
                          <a:spcPts val="0"/>
                        </a:spcAft>
                        <a:buClr>
                          <a:srgbClr val="000000"/>
                        </a:buClr>
                        <a:buFont typeface="Arial"/>
                      </a:pPr>
                      <a:r>
                        <a:rPr lang="en-US" sz="800" b="0" i="0" u="none" strike="noStrike" cap="none" dirty="0">
                          <a:solidFill>
                            <a:schemeClr val="tx1"/>
                          </a:solidFill>
                          <a:effectLst/>
                          <a:latin typeface="Calisto MT" panose="02040603050505030304" pitchFamily="18" charset="0"/>
                          <a:cs typeface="Arial"/>
                          <a:sym typeface="Arial"/>
                        </a:rPr>
                        <a:t>120 Million </a:t>
                      </a:r>
                    </a:p>
                  </a:txBody>
                  <a:tcPr anchor="ctr"/>
                </a:tc>
                <a:extLst>
                  <a:ext uri="{0D108BD9-81ED-4DB2-BD59-A6C34878D82A}">
                    <a16:rowId xmlns:a16="http://schemas.microsoft.com/office/drawing/2014/main" val="4123752527"/>
                  </a:ext>
                </a:extLst>
              </a:tr>
              <a:tr h="242857">
                <a:tc>
                  <a:txBody>
                    <a:bodyPr/>
                    <a:lstStyle/>
                    <a:p>
                      <a:pPr algn="ctr"/>
                      <a:r>
                        <a:rPr lang="en-US" sz="800" dirty="0">
                          <a:solidFill>
                            <a:schemeClr val="tx1"/>
                          </a:solidFill>
                          <a:latin typeface="Calisto MT" panose="02040603050505030304" pitchFamily="18" charset="0"/>
                        </a:rPr>
                        <a:t>2</a:t>
                      </a:r>
                    </a:p>
                  </a:txBody>
                  <a:tcPr anchor="ctr"/>
                </a:tc>
                <a:tc>
                  <a:txBody>
                    <a:bodyPr/>
                    <a:lstStyle/>
                    <a:p>
                      <a:pPr>
                        <a:buNone/>
                      </a:pPr>
                      <a:r>
                        <a:rPr lang="en-US" sz="800" b="0" i="0" dirty="0">
                          <a:solidFill>
                            <a:schemeClr val="tx1"/>
                          </a:solidFill>
                          <a:effectLst/>
                          <a:latin typeface="Calisto MT" panose="02040603050505030304" pitchFamily="18" charset="0"/>
                        </a:rPr>
                        <a:t>Zishan Kalim Farmhouse / No.241, Gulberg Greens, Islamabad</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On-going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Zeshan Kalim</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(Businessman)</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15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150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821076489"/>
                  </a:ext>
                </a:extLst>
              </a:tr>
              <a:tr h="273156">
                <a:tc>
                  <a:txBody>
                    <a:bodyPr/>
                    <a:lstStyle/>
                    <a:p>
                      <a:pPr algn="ctr"/>
                      <a:r>
                        <a:rPr lang="en-US" sz="800" dirty="0">
                          <a:solidFill>
                            <a:schemeClr val="tx1"/>
                          </a:solidFill>
                          <a:latin typeface="Calisto MT" panose="02040603050505030304" pitchFamily="18" charset="0"/>
                        </a:rPr>
                        <a:t>3</a:t>
                      </a:r>
                    </a:p>
                  </a:txBody>
                  <a:tcPr anchor="ctr"/>
                </a:tc>
                <a:tc>
                  <a:txBody>
                    <a:bodyPr/>
                    <a:lstStyle/>
                    <a:p>
                      <a:pPr>
                        <a:buNone/>
                      </a:pPr>
                      <a:r>
                        <a:rPr lang="en-US" sz="800" b="0" i="0" dirty="0">
                          <a:solidFill>
                            <a:schemeClr val="tx1"/>
                          </a:solidFill>
                          <a:effectLst/>
                          <a:latin typeface="Calisto MT" panose="02040603050505030304" pitchFamily="18" charset="0"/>
                        </a:rPr>
                        <a:t>Hills One, </a:t>
                      </a:r>
                      <a:r>
                        <a:rPr lang="en-US" sz="800" b="0" i="0" dirty="0" err="1">
                          <a:solidFill>
                            <a:schemeClr val="tx1"/>
                          </a:solidFill>
                          <a:effectLst/>
                          <a:latin typeface="Calisto MT" panose="02040603050505030304" pitchFamily="18" charset="0"/>
                        </a:rPr>
                        <a:t>Behria</a:t>
                      </a:r>
                      <a:r>
                        <a:rPr lang="en-US" sz="800" b="0" i="0" dirty="0">
                          <a:solidFill>
                            <a:schemeClr val="tx1"/>
                          </a:solidFill>
                          <a:effectLst/>
                          <a:latin typeface="Calisto MT" panose="02040603050505030304" pitchFamily="18" charset="0"/>
                        </a:rPr>
                        <a:t> Enclave, Islamabad (</a:t>
                      </a:r>
                      <a:r>
                        <a:rPr lang="en-US" sz="800" b="0" i="0" dirty="0" err="1">
                          <a:solidFill>
                            <a:schemeClr val="tx1"/>
                          </a:solidFill>
                          <a:effectLst/>
                          <a:latin typeface="Calisto MT" panose="02040603050505030304" pitchFamily="18" charset="0"/>
                        </a:rPr>
                        <a:t>Hirise</a:t>
                      </a:r>
                      <a:r>
                        <a:rPr lang="en-US" sz="800" b="0" i="0" dirty="0">
                          <a:solidFill>
                            <a:schemeClr val="tx1"/>
                          </a:solidFill>
                          <a:effectLst/>
                          <a:latin typeface="Calisto MT" panose="02040603050505030304" pitchFamily="18" charset="0"/>
                        </a:rPr>
                        <a:t> Building (1B+G+5) 1.2 </a:t>
                      </a:r>
                      <a:r>
                        <a:rPr lang="en-US" sz="800" b="0" i="0" dirty="0" err="1">
                          <a:solidFill>
                            <a:schemeClr val="tx1"/>
                          </a:solidFill>
                          <a:effectLst/>
                          <a:latin typeface="Calisto MT" panose="02040603050505030304" pitchFamily="18" charset="0"/>
                        </a:rPr>
                        <a:t>kanal</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On-going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err="1">
                          <a:solidFill>
                            <a:schemeClr val="tx1"/>
                          </a:solidFill>
                          <a:effectLst/>
                          <a:latin typeface="Calisto MT" panose="02040603050505030304" pitchFamily="18" charset="0"/>
                        </a:rPr>
                        <a:t>Mr</a:t>
                      </a:r>
                      <a:r>
                        <a:rPr lang="en-US" sz="800" b="0" i="0" dirty="0">
                          <a:solidFill>
                            <a:schemeClr val="tx1"/>
                          </a:solidFill>
                          <a:effectLst/>
                          <a:latin typeface="Calisto MT" panose="02040603050505030304" pitchFamily="18" charset="0"/>
                        </a:rPr>
                        <a:t> </a:t>
                      </a:r>
                      <a:r>
                        <a:rPr lang="en-US" sz="800" b="0" i="0" dirty="0" err="1">
                          <a:solidFill>
                            <a:schemeClr val="tx1"/>
                          </a:solidFill>
                          <a:effectLst/>
                          <a:latin typeface="Calisto MT" panose="02040603050505030304" pitchFamily="18" charset="0"/>
                        </a:rPr>
                        <a:t>Hamayoun</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a:t>
                      </a:r>
                      <a:r>
                        <a:rPr lang="en-US" sz="800" b="0" i="0" dirty="0" err="1">
                          <a:solidFill>
                            <a:schemeClr val="tx1"/>
                          </a:solidFill>
                          <a:effectLst/>
                          <a:latin typeface="Calisto MT" panose="02040603050505030304" pitchFamily="18" charset="0"/>
                        </a:rPr>
                        <a:t>Amanast</a:t>
                      </a:r>
                      <a:r>
                        <a:rPr lang="en-US" sz="800" b="0" i="0" dirty="0">
                          <a:solidFill>
                            <a:schemeClr val="tx1"/>
                          </a:solidFill>
                          <a:effectLst/>
                          <a:latin typeface="Calisto MT" panose="02040603050505030304" pitchFamily="18" charset="0"/>
                        </a:rPr>
                        <a:t> Group )</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50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250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4156879928"/>
                  </a:ext>
                </a:extLst>
              </a:tr>
              <a:tr h="215664">
                <a:tc>
                  <a:txBody>
                    <a:bodyPr/>
                    <a:lstStyle/>
                    <a:p>
                      <a:pPr algn="ctr"/>
                      <a:r>
                        <a:rPr lang="en-US" sz="800" dirty="0">
                          <a:solidFill>
                            <a:schemeClr val="tx1"/>
                          </a:solidFill>
                          <a:latin typeface="Calisto MT" panose="02040603050505030304" pitchFamily="18" charset="0"/>
                        </a:rPr>
                        <a:t>4</a:t>
                      </a:r>
                    </a:p>
                  </a:txBody>
                  <a:tcPr anchor="ctr"/>
                </a:tc>
                <a:tc>
                  <a:txBody>
                    <a:bodyPr/>
                    <a:lstStyle/>
                    <a:p>
                      <a:pPr>
                        <a:buNone/>
                      </a:pPr>
                      <a:r>
                        <a:rPr lang="en-US" sz="800" b="0" i="0" dirty="0" err="1">
                          <a:solidFill>
                            <a:schemeClr val="tx1"/>
                          </a:solidFill>
                          <a:effectLst/>
                          <a:latin typeface="Calisto MT" panose="02040603050505030304" pitchFamily="18" charset="0"/>
                        </a:rPr>
                        <a:t>Damcon</a:t>
                      </a:r>
                      <a:r>
                        <a:rPr lang="en-US" sz="800" b="0" i="0" dirty="0">
                          <a:solidFill>
                            <a:schemeClr val="tx1"/>
                          </a:solidFill>
                          <a:effectLst/>
                          <a:latin typeface="Calisto MT" panose="02040603050505030304" pitchFamily="18" charset="0"/>
                        </a:rPr>
                        <a:t> Tower, Plot #73, Civic Center, Gulberg Greens, Islamabad (</a:t>
                      </a:r>
                      <a:r>
                        <a:rPr lang="en-US" sz="800" b="0" i="0" dirty="0" err="1">
                          <a:solidFill>
                            <a:schemeClr val="tx1"/>
                          </a:solidFill>
                          <a:effectLst/>
                          <a:latin typeface="Calisto MT" panose="02040603050505030304" pitchFamily="18" charset="0"/>
                        </a:rPr>
                        <a:t>Hirise</a:t>
                      </a:r>
                      <a:r>
                        <a:rPr lang="en-US" sz="800" b="0" i="0" dirty="0">
                          <a:solidFill>
                            <a:schemeClr val="tx1"/>
                          </a:solidFill>
                          <a:effectLst/>
                          <a:latin typeface="Calisto MT" panose="02040603050505030304" pitchFamily="18" charset="0"/>
                        </a:rPr>
                        <a:t>-Building (2B+G+6)</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Tahir Iqbal</a:t>
                      </a:r>
                      <a:br>
                        <a:rPr lang="en-US" sz="800" b="0" i="0">
                          <a:solidFill>
                            <a:schemeClr val="tx1"/>
                          </a:solidFill>
                          <a:effectLst/>
                          <a:latin typeface="Calisto MT" panose="02040603050505030304" pitchFamily="18" charset="0"/>
                        </a:rPr>
                      </a:br>
                      <a:r>
                        <a:rPr lang="en-US" sz="800" b="0" i="0">
                          <a:solidFill>
                            <a:schemeClr val="tx1"/>
                          </a:solidFill>
                          <a:effectLst/>
                          <a:latin typeface="Calisto MT" panose="02040603050505030304" pitchFamily="18" charset="0"/>
                        </a:rPr>
                        <a:t>(Businessman)</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30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150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849677302"/>
                  </a:ext>
                </a:extLst>
              </a:tr>
              <a:tr h="234608">
                <a:tc>
                  <a:txBody>
                    <a:bodyPr/>
                    <a:lstStyle/>
                    <a:p>
                      <a:pPr algn="ctr"/>
                      <a:r>
                        <a:rPr lang="en-US" sz="800" dirty="0">
                          <a:solidFill>
                            <a:schemeClr val="tx1"/>
                          </a:solidFill>
                          <a:latin typeface="Calisto MT" panose="02040603050505030304" pitchFamily="18" charset="0"/>
                        </a:rPr>
                        <a:t>5</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#46, I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Tahir Shah</a:t>
                      </a:r>
                      <a:br>
                        <a:rPr lang="en-US" sz="800" b="0" i="0">
                          <a:solidFill>
                            <a:schemeClr val="tx1"/>
                          </a:solidFill>
                          <a:effectLst/>
                          <a:latin typeface="Calisto MT" panose="02040603050505030304" pitchFamily="18" charset="0"/>
                        </a:rPr>
                      </a:br>
                      <a:r>
                        <a:rPr lang="en-US" sz="800" b="0" i="0">
                          <a:solidFill>
                            <a:schemeClr val="tx1"/>
                          </a:solidFill>
                          <a:effectLst/>
                          <a:latin typeface="Calisto MT" panose="02040603050505030304" pitchFamily="18" charset="0"/>
                        </a:rPr>
                        <a:t>(Businessman)</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30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30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2330427741"/>
                  </a:ext>
                </a:extLst>
              </a:tr>
              <a:tr h="0">
                <a:tc>
                  <a:txBody>
                    <a:bodyPr/>
                    <a:lstStyle/>
                    <a:p>
                      <a:pPr algn="ctr"/>
                      <a:r>
                        <a:rPr lang="en-US" sz="800" dirty="0">
                          <a:solidFill>
                            <a:schemeClr val="tx1"/>
                          </a:solidFill>
                          <a:latin typeface="Calisto MT" panose="02040603050505030304" pitchFamily="18" charset="0"/>
                        </a:rPr>
                        <a:t>6</a:t>
                      </a:r>
                    </a:p>
                  </a:txBody>
                  <a:tcPr anchor="ctr"/>
                </a:tc>
                <a:tc>
                  <a:txBody>
                    <a:bodyPr/>
                    <a:lstStyle/>
                    <a:p>
                      <a:pPr>
                        <a:buNone/>
                      </a:pPr>
                      <a:r>
                        <a:rPr lang="en-US" sz="800" b="0" i="0" dirty="0">
                          <a:solidFill>
                            <a:schemeClr val="tx1"/>
                          </a:solidFill>
                          <a:effectLst/>
                          <a:latin typeface="Calisto MT" panose="02040603050505030304" pitchFamily="18" charset="0"/>
                        </a:rPr>
                        <a:t>Berg-I Tower, Plot #C98, Business Square, Gulberg Greens, Islamabad (</a:t>
                      </a:r>
                      <a:r>
                        <a:rPr lang="en-US" sz="800" b="0" i="0" dirty="0" err="1">
                          <a:solidFill>
                            <a:schemeClr val="tx1"/>
                          </a:solidFill>
                          <a:effectLst/>
                          <a:latin typeface="Calisto MT" panose="02040603050505030304" pitchFamily="18" charset="0"/>
                        </a:rPr>
                        <a:t>Hirise</a:t>
                      </a:r>
                      <a:r>
                        <a:rPr lang="en-US" sz="800" b="0" i="0" dirty="0">
                          <a:solidFill>
                            <a:schemeClr val="tx1"/>
                          </a:solidFill>
                          <a:effectLst/>
                          <a:latin typeface="Calisto MT" panose="02040603050505030304" pitchFamily="18" charset="0"/>
                        </a:rPr>
                        <a:t>-Building (1B+G+6)</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err="1">
                          <a:solidFill>
                            <a:schemeClr val="tx1"/>
                          </a:solidFill>
                          <a:effectLst/>
                          <a:latin typeface="Calisto MT" panose="02040603050505030304" pitchFamily="18" charset="0"/>
                        </a:rPr>
                        <a:t>Mr</a:t>
                      </a:r>
                      <a:r>
                        <a:rPr lang="en-US" sz="800" b="0" i="0" dirty="0">
                          <a:solidFill>
                            <a:schemeClr val="tx1"/>
                          </a:solidFill>
                          <a:effectLst/>
                          <a:latin typeface="Calisto MT" panose="02040603050505030304" pitchFamily="18" charset="0"/>
                        </a:rPr>
                        <a:t> </a:t>
                      </a:r>
                      <a:r>
                        <a:rPr lang="en-US" sz="800" b="0" i="0" dirty="0" err="1">
                          <a:solidFill>
                            <a:schemeClr val="tx1"/>
                          </a:solidFill>
                          <a:effectLst/>
                          <a:latin typeface="Calisto MT" panose="02040603050505030304" pitchFamily="18" charset="0"/>
                        </a:rPr>
                        <a:t>Hamayoun</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Mr. Shahbaz (</a:t>
                      </a:r>
                      <a:r>
                        <a:rPr lang="en-US" sz="800" b="0" i="0" dirty="0" err="1">
                          <a:solidFill>
                            <a:schemeClr val="tx1"/>
                          </a:solidFill>
                          <a:effectLst/>
                          <a:latin typeface="Calisto MT" panose="02040603050505030304" pitchFamily="18" charset="0"/>
                        </a:rPr>
                        <a:t>Eelaf</a:t>
                      </a:r>
                      <a:r>
                        <a:rPr lang="en-US" sz="800" b="0" i="0" dirty="0">
                          <a:solidFill>
                            <a:schemeClr val="tx1"/>
                          </a:solidFill>
                          <a:effectLst/>
                          <a:latin typeface="Calisto MT" panose="02040603050505030304" pitchFamily="18" charset="0"/>
                        </a:rPr>
                        <a:t> Const.)</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28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110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913163839"/>
                  </a:ext>
                </a:extLst>
              </a:tr>
              <a:tr h="370840">
                <a:tc>
                  <a:txBody>
                    <a:bodyPr/>
                    <a:lstStyle/>
                    <a:p>
                      <a:pPr algn="ctr"/>
                      <a:r>
                        <a:rPr lang="en-US" sz="800" dirty="0">
                          <a:solidFill>
                            <a:schemeClr val="tx1"/>
                          </a:solidFill>
                          <a:latin typeface="Calisto MT" panose="02040603050505030304" pitchFamily="18" charset="0"/>
                        </a:rPr>
                        <a:t>7</a:t>
                      </a:r>
                    </a:p>
                  </a:txBody>
                  <a:tcPr anchor="ctr"/>
                </a:tc>
                <a:tc>
                  <a:txBody>
                    <a:bodyPr/>
                    <a:lstStyle/>
                    <a:p>
                      <a:pPr>
                        <a:buNone/>
                      </a:pPr>
                      <a:r>
                        <a:rPr lang="en-US" sz="800" b="0" i="0" dirty="0">
                          <a:solidFill>
                            <a:schemeClr val="tx1"/>
                          </a:solidFill>
                          <a:effectLst/>
                          <a:latin typeface="Calisto MT" panose="02040603050505030304" pitchFamily="18" charset="0"/>
                        </a:rPr>
                        <a:t>Shopping Mall, Sector G8/4, Islamabad (1B+G+5)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Hassan Nawaz Khokhar (Businessman)</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20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65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3567563310"/>
                  </a:ext>
                </a:extLst>
              </a:tr>
              <a:tr h="267927">
                <a:tc>
                  <a:txBody>
                    <a:bodyPr/>
                    <a:lstStyle/>
                    <a:p>
                      <a:pPr algn="ctr"/>
                      <a:r>
                        <a:rPr lang="en-US" sz="800" dirty="0">
                          <a:solidFill>
                            <a:schemeClr val="tx1"/>
                          </a:solidFill>
                          <a:latin typeface="Calisto MT" panose="02040603050505030304" pitchFamily="18" charset="0"/>
                        </a:rPr>
                        <a:t>8</a:t>
                      </a:r>
                    </a:p>
                  </a:txBody>
                  <a:tcPr anchor="ctr"/>
                </a:tc>
                <a:tc>
                  <a:txBody>
                    <a:bodyPr/>
                    <a:lstStyle/>
                    <a:p>
                      <a:pPr>
                        <a:buNone/>
                      </a:pPr>
                      <a:r>
                        <a:rPr lang="en-US" sz="800" b="0" i="0" dirty="0">
                          <a:solidFill>
                            <a:schemeClr val="tx1"/>
                          </a:solidFill>
                          <a:effectLst/>
                          <a:latin typeface="Calisto MT" panose="02040603050505030304" pitchFamily="18" charset="0"/>
                        </a:rPr>
                        <a:t>Farm House, D-70, Gulberg Greens, Islamabad (Area 10 Kanal)</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Saad Nazir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26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120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581886962"/>
                  </a:ext>
                </a:extLst>
              </a:tr>
              <a:tr h="267927">
                <a:tc>
                  <a:txBody>
                    <a:bodyPr/>
                    <a:lstStyle/>
                    <a:p>
                      <a:pPr algn="ctr"/>
                      <a:r>
                        <a:rPr lang="en-US" sz="800" b="0" i="0" u="none" strike="noStrike" cap="none" dirty="0">
                          <a:solidFill>
                            <a:schemeClr val="tx1"/>
                          </a:solidFill>
                          <a:effectLst/>
                          <a:latin typeface="ArialMT"/>
                          <a:cs typeface="Arial"/>
                          <a:sym typeface="Arial"/>
                        </a:rPr>
                        <a:t>9</a:t>
                      </a:r>
                    </a:p>
                  </a:txBody>
                  <a:tcPr anchor="ctr"/>
                </a:tc>
                <a:tc>
                  <a:txBody>
                    <a:bodyPr/>
                    <a:lstStyle/>
                    <a:p>
                      <a:pPr>
                        <a:buNone/>
                      </a:pPr>
                      <a:r>
                        <a:rPr lang="en-US" sz="800" b="0" i="0" dirty="0">
                          <a:solidFill>
                            <a:schemeClr val="tx1"/>
                          </a:solidFill>
                          <a:effectLst/>
                          <a:latin typeface="ArialMT"/>
                        </a:rPr>
                        <a:t>Farm House, A241,Gulberg Greens, Islamabad (Area 05 Kanal)</a:t>
                      </a:r>
                      <a:endParaRPr lang="en-US" sz="800" dirty="0">
                        <a:solidFill>
                          <a:schemeClr val="tx1"/>
                        </a:solidFill>
                        <a:effectLst/>
                      </a:endParaRPr>
                    </a:p>
                  </a:txBody>
                  <a:tcPr anchor="ctr"/>
                </a:tc>
                <a:tc>
                  <a:txBody>
                    <a:bodyPr/>
                    <a:lstStyle/>
                    <a:p>
                      <a:pPr>
                        <a:buNone/>
                      </a:pPr>
                      <a:r>
                        <a:rPr lang="en-US" sz="800" b="0" i="0">
                          <a:solidFill>
                            <a:schemeClr val="tx1"/>
                          </a:solidFill>
                          <a:effectLst/>
                          <a:latin typeface="ArialMT"/>
                        </a:rPr>
                        <a:t>Completed </a:t>
                      </a:r>
                      <a:endParaRPr lang="en-US" sz="800">
                        <a:solidFill>
                          <a:schemeClr val="tx1"/>
                        </a:solidFill>
                        <a:effectLst/>
                      </a:endParaRPr>
                    </a:p>
                  </a:txBody>
                  <a:tcPr anchor="ctr"/>
                </a:tc>
                <a:tc>
                  <a:txBody>
                    <a:bodyPr/>
                    <a:lstStyle/>
                    <a:p>
                      <a:pPr>
                        <a:buNone/>
                      </a:pPr>
                      <a:r>
                        <a:rPr lang="en-US" sz="800" b="0" i="0" dirty="0">
                          <a:solidFill>
                            <a:schemeClr val="tx1"/>
                          </a:solidFill>
                          <a:effectLst/>
                          <a:latin typeface="ArialMT"/>
                        </a:rPr>
                        <a:t>Mr. Zeshan</a:t>
                      </a:r>
                      <a:br>
                        <a:rPr lang="en-US" sz="800" b="0" i="0" dirty="0">
                          <a:solidFill>
                            <a:schemeClr val="tx1"/>
                          </a:solidFill>
                          <a:effectLst/>
                          <a:latin typeface="ArialMT"/>
                        </a:rPr>
                      </a:br>
                      <a:r>
                        <a:rPr lang="en-US" sz="800" b="0" i="0" dirty="0">
                          <a:solidFill>
                            <a:schemeClr val="tx1"/>
                          </a:solidFill>
                          <a:effectLst/>
                          <a:latin typeface="ArialMT"/>
                        </a:rPr>
                        <a:t>Kaleem (Businessman)</a:t>
                      </a:r>
                      <a:endParaRPr lang="en-US" sz="800" dirty="0">
                        <a:solidFill>
                          <a:schemeClr val="tx1"/>
                        </a:solidFill>
                        <a:effectLst/>
                      </a:endParaRPr>
                    </a:p>
                  </a:txBody>
                  <a:tcPr anchor="ctr"/>
                </a:tc>
                <a:tc>
                  <a:txBody>
                    <a:bodyPr/>
                    <a:lstStyle/>
                    <a:p>
                      <a:pPr algn="ctr">
                        <a:buNone/>
                      </a:pPr>
                      <a:r>
                        <a:rPr lang="en-US" sz="800" b="0" i="0" dirty="0">
                          <a:solidFill>
                            <a:schemeClr val="tx1"/>
                          </a:solidFill>
                          <a:effectLst/>
                          <a:latin typeface="ArialMT"/>
                        </a:rPr>
                        <a:t>7 </a:t>
                      </a:r>
                      <a:endParaRPr lang="en-US" sz="800" dirty="0">
                        <a:solidFill>
                          <a:schemeClr val="tx1"/>
                        </a:solidFill>
                        <a:effectLst/>
                      </a:endParaRPr>
                    </a:p>
                  </a:txBody>
                  <a:tcPr anchor="ctr"/>
                </a:tc>
                <a:tc>
                  <a:txBody>
                    <a:bodyPr/>
                    <a:lstStyle/>
                    <a:p>
                      <a:pPr>
                        <a:buNone/>
                      </a:pPr>
                      <a:r>
                        <a:rPr lang="en-US" sz="800" b="0" i="0" dirty="0">
                          <a:solidFill>
                            <a:schemeClr val="tx1"/>
                          </a:solidFill>
                          <a:effectLst/>
                          <a:latin typeface="Arial-BoldMT"/>
                        </a:rPr>
                        <a:t>7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endParaRPr>
                    </a:p>
                  </a:txBody>
                  <a:tcPr anchor="ctr"/>
                </a:tc>
                <a:extLst>
                  <a:ext uri="{0D108BD9-81ED-4DB2-BD59-A6C34878D82A}">
                    <a16:rowId xmlns:a16="http://schemas.microsoft.com/office/drawing/2014/main" val="1416654191"/>
                  </a:ext>
                </a:extLst>
              </a:tr>
            </a:tbl>
          </a:graphicData>
        </a:graphic>
      </p:graphicFrame>
    </p:spTree>
    <p:extLst>
      <p:ext uri="{BB962C8B-B14F-4D97-AF65-F5344CB8AC3E}">
        <p14:creationId xmlns:p14="http://schemas.microsoft.com/office/powerpoint/2010/main" val="1655794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CCEE917F-965F-C4E4-56E7-DABB873FB9D5}"/>
            </a:ext>
          </a:extLst>
        </p:cNvPr>
        <p:cNvGrpSpPr/>
        <p:nvPr/>
      </p:nvGrpSpPr>
      <p:grpSpPr>
        <a:xfrm>
          <a:off x="0" y="0"/>
          <a:ext cx="0" cy="0"/>
          <a:chOff x="0" y="0"/>
          <a:chExt cx="0" cy="0"/>
        </a:xfrm>
      </p:grpSpPr>
      <p:sp>
        <p:nvSpPr>
          <p:cNvPr id="158" name="Google Shape;158;p31">
            <a:extLst>
              <a:ext uri="{FF2B5EF4-FFF2-40B4-BE49-F238E27FC236}">
                <a16:creationId xmlns:a16="http://schemas.microsoft.com/office/drawing/2014/main" id="{5A2EDFB2-1A9C-15A5-E382-95CF1A7CAE63}"/>
              </a:ext>
            </a:extLst>
          </p:cNvPr>
          <p:cNvSpPr txBox="1">
            <a:spLocks noGrp="1"/>
          </p:cNvSpPr>
          <p:nvPr>
            <p:ph type="ctrTitle" idx="4294967295"/>
          </p:nvPr>
        </p:nvSpPr>
        <p:spPr>
          <a:xfrm>
            <a:off x="1125424" y="537476"/>
            <a:ext cx="5468938" cy="730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solidFill>
                  <a:srgbClr val="003F7E"/>
                </a:solidFill>
              </a:rPr>
              <a:t>LIST OF COMPLETED PROJECTS </a:t>
            </a:r>
          </a:p>
        </p:txBody>
      </p:sp>
      <p:sp>
        <p:nvSpPr>
          <p:cNvPr id="25" name="Google Shape;158;p31">
            <a:extLst>
              <a:ext uri="{FF2B5EF4-FFF2-40B4-BE49-F238E27FC236}">
                <a16:creationId xmlns:a16="http://schemas.microsoft.com/office/drawing/2014/main" id="{D6817BC5-0B26-D52C-2431-41EC76105910}"/>
              </a:ext>
            </a:extLst>
          </p:cNvPr>
          <p:cNvSpPr txBox="1">
            <a:spLocks/>
          </p:cNvSpPr>
          <p:nvPr/>
        </p:nvSpPr>
        <p:spPr>
          <a:xfrm>
            <a:off x="406469" y="1345516"/>
            <a:ext cx="6077259" cy="50555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endParaRPr lang="en-US" sz="1600" dirty="0">
              <a:solidFill>
                <a:srgbClr val="003F7E"/>
              </a:solidFill>
            </a:endParaRPr>
          </a:p>
        </p:txBody>
      </p:sp>
      <p:sp>
        <p:nvSpPr>
          <p:cNvPr id="26" name="TextBox 25">
            <a:extLst>
              <a:ext uri="{FF2B5EF4-FFF2-40B4-BE49-F238E27FC236}">
                <a16:creationId xmlns:a16="http://schemas.microsoft.com/office/drawing/2014/main" id="{00A29DF5-A7A6-63A7-57FC-DC5E46893FD7}"/>
              </a:ext>
            </a:extLst>
          </p:cNvPr>
          <p:cNvSpPr txBox="1"/>
          <p:nvPr/>
        </p:nvSpPr>
        <p:spPr>
          <a:xfrm>
            <a:off x="860663" y="2631120"/>
            <a:ext cx="6077259" cy="276999"/>
          </a:xfrm>
          <a:prstGeom prst="rect">
            <a:avLst/>
          </a:prstGeom>
          <a:noFill/>
        </p:spPr>
        <p:txBody>
          <a:bodyPr wrap="square" rtlCol="0">
            <a:spAutoFit/>
          </a:bodyPr>
          <a:lstStyle/>
          <a:p>
            <a:pPr lvl="0" algn="just"/>
            <a:r>
              <a:rPr lang="en-US" sz="1200" b="1" dirty="0">
                <a:solidFill>
                  <a:srgbClr val="003F7E"/>
                </a:solidFill>
                <a:latin typeface="Montserrat"/>
              </a:rPr>
              <a:t> </a:t>
            </a:r>
            <a:endParaRPr lang="en-US" dirty="0">
              <a:latin typeface="Calisto MT" panose="02040603050505030304" pitchFamily="18" charset="0"/>
            </a:endParaRPr>
          </a:p>
        </p:txBody>
      </p:sp>
      <p:pic>
        <p:nvPicPr>
          <p:cNvPr id="11" name="Picture 10">
            <a:extLst>
              <a:ext uri="{FF2B5EF4-FFF2-40B4-BE49-F238E27FC236}">
                <a16:creationId xmlns:a16="http://schemas.microsoft.com/office/drawing/2014/main" id="{D2DD5FAC-F9D6-1F13-7A89-8F1EAD43DC0A}"/>
              </a:ext>
            </a:extLst>
          </p:cNvPr>
          <p:cNvPicPr>
            <a:picLocks noChangeAspect="1"/>
          </p:cNvPicPr>
          <p:nvPr/>
        </p:nvPicPr>
        <p:blipFill>
          <a:blip r:embed="rId3"/>
          <a:stretch>
            <a:fillRect/>
          </a:stretch>
        </p:blipFill>
        <p:spPr>
          <a:xfrm>
            <a:off x="165302" y="138130"/>
            <a:ext cx="960122" cy="1170434"/>
          </a:xfrm>
          <a:prstGeom prst="rect">
            <a:avLst/>
          </a:prstGeom>
        </p:spPr>
      </p:pic>
      <p:graphicFrame>
        <p:nvGraphicFramePr>
          <p:cNvPr id="4" name="Table 3">
            <a:extLst>
              <a:ext uri="{FF2B5EF4-FFF2-40B4-BE49-F238E27FC236}">
                <a16:creationId xmlns:a16="http://schemas.microsoft.com/office/drawing/2014/main" id="{7F379CB3-72CD-8276-8FBD-1059BED11D5B}"/>
              </a:ext>
            </a:extLst>
          </p:cNvPr>
          <p:cNvGraphicFramePr>
            <a:graphicFrameLocks noGrp="1"/>
          </p:cNvGraphicFramePr>
          <p:nvPr>
            <p:extLst>
              <p:ext uri="{D42A27DB-BD31-4B8C-83A1-F6EECF244321}">
                <p14:modId xmlns:p14="http://schemas.microsoft.com/office/powerpoint/2010/main" val="2560643489"/>
              </p:ext>
            </p:extLst>
          </p:nvPr>
        </p:nvGraphicFramePr>
        <p:xfrm>
          <a:off x="517540" y="1401542"/>
          <a:ext cx="7765797" cy="3422697"/>
        </p:xfrm>
        <a:graphic>
          <a:graphicData uri="http://schemas.openxmlformats.org/drawingml/2006/table">
            <a:tbl>
              <a:tblPr firstRow="1" bandRow="1">
                <a:tableStyleId>{937DBE58-439A-43C2-9BEE-16E4DBF8C7AB}</a:tableStyleId>
              </a:tblPr>
              <a:tblGrid>
                <a:gridCol w="369966">
                  <a:extLst>
                    <a:ext uri="{9D8B030D-6E8A-4147-A177-3AD203B41FA5}">
                      <a16:colId xmlns:a16="http://schemas.microsoft.com/office/drawing/2014/main" val="2653399223"/>
                    </a:ext>
                  </a:extLst>
                </a:gridCol>
                <a:gridCol w="3610536">
                  <a:extLst>
                    <a:ext uri="{9D8B030D-6E8A-4147-A177-3AD203B41FA5}">
                      <a16:colId xmlns:a16="http://schemas.microsoft.com/office/drawing/2014/main" val="1821195311"/>
                    </a:ext>
                  </a:extLst>
                </a:gridCol>
                <a:gridCol w="894230">
                  <a:extLst>
                    <a:ext uri="{9D8B030D-6E8A-4147-A177-3AD203B41FA5}">
                      <a16:colId xmlns:a16="http://schemas.microsoft.com/office/drawing/2014/main" val="3686222043"/>
                    </a:ext>
                  </a:extLst>
                </a:gridCol>
                <a:gridCol w="1351429">
                  <a:extLst>
                    <a:ext uri="{9D8B030D-6E8A-4147-A177-3AD203B41FA5}">
                      <a16:colId xmlns:a16="http://schemas.microsoft.com/office/drawing/2014/main" val="3099338594"/>
                    </a:ext>
                  </a:extLst>
                </a:gridCol>
                <a:gridCol w="726141">
                  <a:extLst>
                    <a:ext uri="{9D8B030D-6E8A-4147-A177-3AD203B41FA5}">
                      <a16:colId xmlns:a16="http://schemas.microsoft.com/office/drawing/2014/main" val="100084337"/>
                    </a:ext>
                  </a:extLst>
                </a:gridCol>
                <a:gridCol w="813495">
                  <a:extLst>
                    <a:ext uri="{9D8B030D-6E8A-4147-A177-3AD203B41FA5}">
                      <a16:colId xmlns:a16="http://schemas.microsoft.com/office/drawing/2014/main" val="2445015444"/>
                    </a:ext>
                  </a:extLst>
                </a:gridCol>
              </a:tblGrid>
              <a:tr h="370840">
                <a:tc>
                  <a:txBody>
                    <a:bodyPr/>
                    <a:lstStyle/>
                    <a:p>
                      <a:r>
                        <a:rPr lang="en-US" sz="900" b="1" i="0" u="none" strike="noStrike" cap="none" dirty="0">
                          <a:solidFill>
                            <a:srgbClr val="003F7E"/>
                          </a:solidFill>
                          <a:latin typeface="Montserrat"/>
                          <a:sym typeface="Montserrat"/>
                        </a:rPr>
                        <a:t>Sr No</a:t>
                      </a:r>
                    </a:p>
                  </a:txBody>
                  <a:tcPr/>
                </a:tc>
                <a:tc>
                  <a:txBody>
                    <a:bodyPr/>
                    <a:lstStyle/>
                    <a:p>
                      <a:r>
                        <a:rPr lang="en-US" sz="900" b="1" i="0" u="none" strike="noStrike" cap="none" dirty="0">
                          <a:solidFill>
                            <a:srgbClr val="003F7E"/>
                          </a:solidFill>
                          <a:latin typeface="Montserrat"/>
                          <a:sym typeface="Montserrat"/>
                        </a:rPr>
                        <a:t>Project Description</a:t>
                      </a:r>
                    </a:p>
                  </a:txBody>
                  <a:tcPr/>
                </a:tc>
                <a:tc>
                  <a:txBody>
                    <a:bodyPr/>
                    <a:lstStyle/>
                    <a:p>
                      <a:r>
                        <a:rPr lang="en-US" sz="900" b="1" i="0" u="none" strike="noStrike" cap="none" dirty="0">
                          <a:solidFill>
                            <a:srgbClr val="003F7E"/>
                          </a:solidFill>
                          <a:latin typeface="Montserrat"/>
                          <a:sym typeface="Montserrat"/>
                        </a:rPr>
                        <a:t>Status</a:t>
                      </a:r>
                    </a:p>
                  </a:txBody>
                  <a:tcPr/>
                </a:tc>
                <a:tc>
                  <a:txBody>
                    <a:bodyPr/>
                    <a:lstStyle/>
                    <a:p>
                      <a:r>
                        <a:rPr lang="en-US" sz="900" b="1" i="0" u="none" strike="noStrike" cap="none" dirty="0">
                          <a:solidFill>
                            <a:srgbClr val="003F7E"/>
                          </a:solidFill>
                          <a:latin typeface="Montserrat"/>
                          <a:sym typeface="Montserrat"/>
                        </a:rPr>
                        <a:t>Client / Owner</a:t>
                      </a:r>
                    </a:p>
                  </a:txBody>
                  <a:tcPr/>
                </a:tc>
                <a:tc>
                  <a:txBody>
                    <a:bodyPr/>
                    <a:lstStyle/>
                    <a:p>
                      <a:r>
                        <a:rPr lang="en-US" sz="900" b="1" i="0" u="none" strike="noStrike" cap="none" dirty="0">
                          <a:solidFill>
                            <a:srgbClr val="003F7E"/>
                          </a:solidFill>
                          <a:latin typeface="Montserrat"/>
                          <a:sym typeface="Montserrat"/>
                        </a:rPr>
                        <a:t>Contract Value</a:t>
                      </a:r>
                    </a:p>
                  </a:txBody>
                  <a:tcPr/>
                </a:tc>
                <a:tc>
                  <a:txBody>
                    <a:bodyPr/>
                    <a:lstStyle/>
                    <a:p>
                      <a:r>
                        <a:rPr lang="en-US" sz="900" b="1" i="0" u="none" strike="noStrike" cap="none" dirty="0">
                          <a:solidFill>
                            <a:srgbClr val="003F7E"/>
                          </a:solidFill>
                          <a:latin typeface="Montserrat"/>
                          <a:sym typeface="Montserrat"/>
                        </a:rPr>
                        <a:t>Project Value (Rs)</a:t>
                      </a:r>
                    </a:p>
                  </a:txBody>
                  <a:tcPr/>
                </a:tc>
                <a:extLst>
                  <a:ext uri="{0D108BD9-81ED-4DB2-BD59-A6C34878D82A}">
                    <a16:rowId xmlns:a16="http://schemas.microsoft.com/office/drawing/2014/main" val="1271740295"/>
                  </a:ext>
                </a:extLst>
              </a:tr>
              <a:tr h="150862">
                <a:tc>
                  <a:txBody>
                    <a:bodyPr/>
                    <a:lstStyle/>
                    <a:p>
                      <a:r>
                        <a:rPr lang="en-US" sz="800" b="0" i="0" u="none" strike="noStrike" cap="none" dirty="0">
                          <a:solidFill>
                            <a:schemeClr val="tx1"/>
                          </a:solidFill>
                          <a:effectLst/>
                          <a:latin typeface="Calisto MT" panose="02040603050505030304" pitchFamily="18" charset="0"/>
                          <a:cs typeface="Arial"/>
                          <a:sym typeface="Arial"/>
                        </a:rPr>
                        <a:t>9</a:t>
                      </a:r>
                    </a:p>
                  </a:txBody>
                  <a:tcPr anchor="ctr"/>
                </a:tc>
                <a:tc>
                  <a:txBody>
                    <a:bodyPr/>
                    <a:lstStyle/>
                    <a:p>
                      <a:pPr>
                        <a:buNone/>
                      </a:pPr>
                      <a:r>
                        <a:rPr lang="en-US" sz="800" b="0" i="0" dirty="0">
                          <a:solidFill>
                            <a:schemeClr val="tx1"/>
                          </a:solidFill>
                          <a:effectLst/>
                          <a:latin typeface="Calisto MT" panose="02040603050505030304" pitchFamily="18" charset="0"/>
                        </a:rPr>
                        <a:t>Farm House, C114,Gulberg Greens, Islamabad (Area 05 Kanal)</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Rashid Kamal</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(Ex-Air Marshal)</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10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70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4123752527"/>
                  </a:ext>
                </a:extLst>
              </a:tr>
              <a:tr h="285707">
                <a:tc>
                  <a:txBody>
                    <a:bodyPr/>
                    <a:lstStyle/>
                    <a:p>
                      <a:r>
                        <a:rPr lang="en-US" sz="800" dirty="0">
                          <a:solidFill>
                            <a:schemeClr val="tx1"/>
                          </a:solidFill>
                          <a:latin typeface="Calisto MT" panose="02040603050505030304" pitchFamily="18" charset="0"/>
                        </a:rPr>
                        <a:t>10</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#201, L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Sohaib </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10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821076489"/>
                  </a:ext>
                </a:extLst>
              </a:tr>
              <a:tr h="266433">
                <a:tc>
                  <a:txBody>
                    <a:bodyPr/>
                    <a:lstStyle/>
                    <a:p>
                      <a:r>
                        <a:rPr lang="en-US" sz="800" dirty="0">
                          <a:solidFill>
                            <a:schemeClr val="tx1"/>
                          </a:solidFill>
                          <a:latin typeface="Calisto MT" panose="02040603050505030304" pitchFamily="18" charset="0"/>
                        </a:rPr>
                        <a:t>11</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#364, L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M Farooq </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14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14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4156879928"/>
                  </a:ext>
                </a:extLst>
              </a:tr>
              <a:tr h="289319">
                <a:tc>
                  <a:txBody>
                    <a:bodyPr/>
                    <a:lstStyle/>
                    <a:p>
                      <a:r>
                        <a:rPr lang="en-US" sz="800" dirty="0">
                          <a:solidFill>
                            <a:schemeClr val="tx1"/>
                          </a:solidFill>
                          <a:latin typeface="Calisto MT" panose="02040603050505030304" pitchFamily="18" charset="0"/>
                        </a:rPr>
                        <a:t>12</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#405, L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M Abrar </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14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14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849677302"/>
                  </a:ext>
                </a:extLst>
              </a:tr>
              <a:tr h="267148">
                <a:tc>
                  <a:txBody>
                    <a:bodyPr/>
                    <a:lstStyle/>
                    <a:p>
                      <a:r>
                        <a:rPr lang="en-US" sz="800" dirty="0">
                          <a:solidFill>
                            <a:schemeClr val="tx1"/>
                          </a:solidFill>
                          <a:latin typeface="Calisto MT" panose="02040603050505030304" pitchFamily="18" charset="0"/>
                        </a:rPr>
                        <a:t>13</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#146, L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Farhan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16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16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2330427741"/>
                  </a:ext>
                </a:extLst>
              </a:tr>
              <a:tr h="290905">
                <a:tc>
                  <a:txBody>
                    <a:bodyPr/>
                    <a:lstStyle/>
                    <a:p>
                      <a:r>
                        <a:rPr lang="en-US" sz="800" dirty="0">
                          <a:solidFill>
                            <a:schemeClr val="tx1"/>
                          </a:solidFill>
                          <a:latin typeface="Calisto MT" panose="02040603050505030304" pitchFamily="18" charset="0"/>
                        </a:rPr>
                        <a:t>14</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 M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Hassan </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2.5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15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913163839"/>
                  </a:ext>
                </a:extLst>
              </a:tr>
              <a:tr h="270287">
                <a:tc>
                  <a:txBody>
                    <a:bodyPr/>
                    <a:lstStyle/>
                    <a:p>
                      <a:r>
                        <a:rPr lang="en-US" sz="800" dirty="0">
                          <a:solidFill>
                            <a:schemeClr val="tx1"/>
                          </a:solidFill>
                          <a:latin typeface="Calisto MT" panose="02040603050505030304" pitchFamily="18" charset="0"/>
                        </a:rPr>
                        <a:t>15</a:t>
                      </a:r>
                    </a:p>
                  </a:txBody>
                  <a:tcPr anchor="ctr"/>
                </a:tc>
                <a:tc>
                  <a:txBody>
                    <a:bodyPr/>
                    <a:lstStyle/>
                    <a:p>
                      <a:pPr>
                        <a:buNone/>
                      </a:pPr>
                      <a:r>
                        <a:rPr lang="en-US" sz="800" b="0" i="0" dirty="0">
                          <a:solidFill>
                            <a:schemeClr val="tx1"/>
                          </a:solidFill>
                          <a:effectLst/>
                          <a:latin typeface="Calisto MT" panose="02040603050505030304" pitchFamily="18" charset="0"/>
                        </a:rPr>
                        <a:t>Farm House, C-69, Boundary wall, Gulberg Greens, Islamabad </a:t>
                      </a:r>
                    </a:p>
                    <a:p>
                      <a:pPr>
                        <a:buNone/>
                      </a:pPr>
                      <a:r>
                        <a:rPr lang="en-US" sz="800" b="0" i="0" dirty="0">
                          <a:solidFill>
                            <a:schemeClr val="tx1"/>
                          </a:solidFill>
                          <a:effectLst/>
                          <a:latin typeface="Calisto MT" panose="02040603050505030304" pitchFamily="18" charset="0"/>
                        </a:rPr>
                        <a:t>( Area 10 Kanal)</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Anees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10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10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3567563310"/>
                  </a:ext>
                </a:extLst>
              </a:tr>
              <a:tr h="275665">
                <a:tc>
                  <a:txBody>
                    <a:bodyPr/>
                    <a:lstStyle/>
                    <a:p>
                      <a:r>
                        <a:rPr lang="en-US" sz="800" dirty="0">
                          <a:solidFill>
                            <a:schemeClr val="tx1"/>
                          </a:solidFill>
                          <a:latin typeface="Calisto MT" panose="02040603050505030304" pitchFamily="18" charset="0"/>
                        </a:rPr>
                        <a:t>16</a:t>
                      </a:r>
                    </a:p>
                  </a:txBody>
                  <a:tcPr anchor="ctr"/>
                </a:tc>
                <a:tc>
                  <a:txBody>
                    <a:bodyPr/>
                    <a:lstStyle/>
                    <a:p>
                      <a:pPr>
                        <a:buNone/>
                      </a:pPr>
                      <a:r>
                        <a:rPr lang="en-US" sz="800" b="0" i="0" dirty="0">
                          <a:solidFill>
                            <a:schemeClr val="tx1"/>
                          </a:solidFill>
                          <a:effectLst/>
                          <a:latin typeface="Calisto MT" panose="02040603050505030304" pitchFamily="18" charset="0"/>
                        </a:rPr>
                        <a:t>Residential Building, House #899, A Block, Gulberg Greens ISB</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Qasim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16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16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581886962"/>
                  </a:ext>
                </a:extLst>
              </a:tr>
              <a:tr h="334830">
                <a:tc>
                  <a:txBody>
                    <a:bodyPr/>
                    <a:lstStyle/>
                    <a:p>
                      <a:r>
                        <a:rPr lang="en-US" sz="800" dirty="0">
                          <a:solidFill>
                            <a:schemeClr val="tx1"/>
                          </a:solidFill>
                          <a:latin typeface="Calisto MT" panose="02040603050505030304" pitchFamily="18" charset="0"/>
                        </a:rPr>
                        <a:t>17</a:t>
                      </a:r>
                    </a:p>
                  </a:txBody>
                  <a:tcPr anchor="ctr"/>
                </a:tc>
                <a:tc>
                  <a:txBody>
                    <a:bodyPr/>
                    <a:lstStyle/>
                    <a:p>
                      <a:pPr>
                        <a:buNone/>
                      </a:pPr>
                      <a:r>
                        <a:rPr lang="en-US" sz="800" b="0" i="0" dirty="0">
                          <a:solidFill>
                            <a:schemeClr val="tx1"/>
                          </a:solidFill>
                          <a:effectLst/>
                          <a:latin typeface="Calisto MT" panose="02040603050505030304" pitchFamily="18" charset="0"/>
                        </a:rPr>
                        <a:t>Farm House, C170,Gulberg Greens, Islamabad ( Area 04 Kanal)</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dirty="0">
                          <a:solidFill>
                            <a:schemeClr val="tx1"/>
                          </a:solidFill>
                          <a:effectLst/>
                          <a:latin typeface="Calisto MT" panose="02040603050505030304" pitchFamily="18" charset="0"/>
                        </a:rPr>
                        <a:t>Mr. </a:t>
                      </a:r>
                      <a:r>
                        <a:rPr lang="en-US" sz="800" b="0" i="0" dirty="0" err="1">
                          <a:solidFill>
                            <a:schemeClr val="tx1"/>
                          </a:solidFill>
                          <a:effectLst/>
                          <a:latin typeface="Calisto MT" panose="02040603050505030304" pitchFamily="18" charset="0"/>
                        </a:rPr>
                        <a:t>Humayo</a:t>
                      </a:r>
                      <a:r>
                        <a:rPr lang="en-US" sz="800" b="0" i="0" dirty="0">
                          <a:solidFill>
                            <a:schemeClr val="tx1"/>
                          </a:solidFill>
                          <a:effectLst/>
                          <a:latin typeface="Calisto MT" panose="02040603050505030304" pitchFamily="18" charset="0"/>
                        </a:rPr>
                        <a:t> </a:t>
                      </a:r>
                      <a:r>
                        <a:rPr lang="en-US" sz="800" b="0" i="0" dirty="0" err="1">
                          <a:solidFill>
                            <a:schemeClr val="tx1"/>
                          </a:solidFill>
                          <a:effectLst/>
                          <a:latin typeface="Calisto MT" panose="02040603050505030304" pitchFamily="18" charset="0"/>
                        </a:rPr>
                        <a:t>Fargham</a:t>
                      </a:r>
                      <a:br>
                        <a:rPr lang="en-US" sz="800" b="0" i="0" dirty="0">
                          <a:solidFill>
                            <a:schemeClr val="tx1"/>
                          </a:solidFill>
                          <a:effectLst/>
                          <a:latin typeface="Calisto MT" panose="02040603050505030304" pitchFamily="18" charset="0"/>
                        </a:rPr>
                      </a:br>
                      <a:r>
                        <a:rPr lang="en-US" sz="800" b="0" i="0" dirty="0">
                          <a:solidFill>
                            <a:schemeClr val="tx1"/>
                          </a:solidFill>
                          <a:effectLst/>
                          <a:latin typeface="Calisto MT" panose="02040603050505030304" pitchFamily="18" charset="0"/>
                        </a:rPr>
                        <a:t>(oil &amp; </a:t>
                      </a:r>
                      <a:r>
                        <a:rPr lang="en-US" sz="800" b="0" i="0" dirty="0" err="1">
                          <a:solidFill>
                            <a:schemeClr val="tx1"/>
                          </a:solidFill>
                          <a:effectLst/>
                          <a:latin typeface="Calisto MT" panose="02040603050505030304" pitchFamily="18" charset="0"/>
                        </a:rPr>
                        <a:t>Gass,Iraq</a:t>
                      </a:r>
                      <a:r>
                        <a:rPr lang="en-US" sz="800" b="0" i="0" dirty="0">
                          <a:solidFill>
                            <a:schemeClr val="tx1"/>
                          </a:solidFill>
                          <a:effectLst/>
                          <a:latin typeface="Calisto MT" panose="02040603050505030304" pitchFamily="18" charset="0"/>
                        </a:rPr>
                        <a:t>)</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25 </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110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2910780132"/>
                  </a:ext>
                </a:extLst>
              </a:tr>
              <a:tr h="370840">
                <a:tc>
                  <a:txBody>
                    <a:bodyPr/>
                    <a:lstStyle/>
                    <a:p>
                      <a:r>
                        <a:rPr lang="en-US" sz="800" dirty="0">
                          <a:solidFill>
                            <a:schemeClr val="tx1"/>
                          </a:solidFill>
                          <a:latin typeface="Calisto MT" panose="02040603050505030304" pitchFamily="18" charset="0"/>
                        </a:rPr>
                        <a:t>18</a:t>
                      </a:r>
                    </a:p>
                  </a:txBody>
                  <a:tcPr anchor="ctr"/>
                </a:tc>
                <a:tc>
                  <a:txBody>
                    <a:bodyPr/>
                    <a:lstStyle/>
                    <a:p>
                      <a:pPr>
                        <a:buNone/>
                      </a:pPr>
                      <a:r>
                        <a:rPr lang="en-US" sz="800" b="0" i="0" dirty="0">
                          <a:solidFill>
                            <a:schemeClr val="tx1"/>
                          </a:solidFill>
                          <a:effectLst/>
                          <a:latin typeface="Calisto MT" panose="02040603050505030304" pitchFamily="18" charset="0"/>
                        </a:rPr>
                        <a:t>Farm House, C05, Gulberg Greens, Islamabad ( Area 12 Kanal)</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Mr. Ammad Ahmad</a:t>
                      </a:r>
                      <a:br>
                        <a:rPr lang="en-US" sz="800" b="0" i="0">
                          <a:solidFill>
                            <a:schemeClr val="tx1"/>
                          </a:solidFill>
                          <a:effectLst/>
                          <a:latin typeface="Calisto MT" panose="02040603050505030304" pitchFamily="18" charset="0"/>
                        </a:rPr>
                      </a:br>
                      <a:r>
                        <a:rPr lang="en-US" sz="800" b="0" i="0">
                          <a:solidFill>
                            <a:schemeClr val="tx1"/>
                          </a:solidFill>
                          <a:effectLst/>
                          <a:latin typeface="Calisto MT" panose="02040603050505030304" pitchFamily="18" charset="0"/>
                        </a:rPr>
                        <a:t>Businessman</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12 </a:t>
                      </a:r>
                      <a:endParaRPr lang="en-US" sz="80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12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334893435"/>
                  </a:ext>
                </a:extLst>
              </a:tr>
            </a:tbl>
          </a:graphicData>
        </a:graphic>
      </p:graphicFrame>
      <p:sp>
        <p:nvSpPr>
          <p:cNvPr id="5" name="Rectangle 1">
            <a:extLst>
              <a:ext uri="{FF2B5EF4-FFF2-40B4-BE49-F238E27FC236}">
                <a16:creationId xmlns:a16="http://schemas.microsoft.com/office/drawing/2014/main" id="{21DA674D-1AAE-8DEE-7869-C1E6A40EF0B3}"/>
              </a:ext>
            </a:extLst>
          </p:cNvPr>
          <p:cNvSpPr/>
          <p:nvPr/>
        </p:nvSpPr>
        <p:spPr>
          <a:xfrm>
            <a:off x="8183877" y="0"/>
            <a:ext cx="960122"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929223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99109796-9315-E7F7-2A24-05457362893E}"/>
            </a:ext>
          </a:extLst>
        </p:cNvPr>
        <p:cNvGrpSpPr/>
        <p:nvPr/>
      </p:nvGrpSpPr>
      <p:grpSpPr>
        <a:xfrm>
          <a:off x="0" y="0"/>
          <a:ext cx="0" cy="0"/>
          <a:chOff x="0" y="0"/>
          <a:chExt cx="0" cy="0"/>
        </a:xfrm>
      </p:grpSpPr>
      <p:sp>
        <p:nvSpPr>
          <p:cNvPr id="158" name="Google Shape;158;p31">
            <a:extLst>
              <a:ext uri="{FF2B5EF4-FFF2-40B4-BE49-F238E27FC236}">
                <a16:creationId xmlns:a16="http://schemas.microsoft.com/office/drawing/2014/main" id="{883F690F-1EAF-E3A0-8D6A-4CE912DF281D}"/>
              </a:ext>
            </a:extLst>
          </p:cNvPr>
          <p:cNvSpPr txBox="1">
            <a:spLocks noGrp="1"/>
          </p:cNvSpPr>
          <p:nvPr>
            <p:ph type="ctrTitle" idx="4294967295"/>
          </p:nvPr>
        </p:nvSpPr>
        <p:spPr>
          <a:xfrm>
            <a:off x="1164823" y="565470"/>
            <a:ext cx="5468938" cy="730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solidFill>
                  <a:srgbClr val="003F7E"/>
                </a:solidFill>
              </a:rPr>
              <a:t>LIST OF COMPLETED PROJECTS </a:t>
            </a:r>
          </a:p>
        </p:txBody>
      </p:sp>
      <p:sp>
        <p:nvSpPr>
          <p:cNvPr id="25" name="Google Shape;158;p31">
            <a:extLst>
              <a:ext uri="{FF2B5EF4-FFF2-40B4-BE49-F238E27FC236}">
                <a16:creationId xmlns:a16="http://schemas.microsoft.com/office/drawing/2014/main" id="{89A6A26B-4B01-E16B-048D-380C04740314}"/>
              </a:ext>
            </a:extLst>
          </p:cNvPr>
          <p:cNvSpPr txBox="1">
            <a:spLocks/>
          </p:cNvSpPr>
          <p:nvPr/>
        </p:nvSpPr>
        <p:spPr>
          <a:xfrm>
            <a:off x="406469" y="1345516"/>
            <a:ext cx="6077259" cy="50555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endParaRPr lang="en-US" sz="1600" dirty="0">
              <a:solidFill>
                <a:srgbClr val="003F7E"/>
              </a:solidFill>
            </a:endParaRPr>
          </a:p>
        </p:txBody>
      </p:sp>
      <p:sp>
        <p:nvSpPr>
          <p:cNvPr id="26" name="TextBox 25">
            <a:extLst>
              <a:ext uri="{FF2B5EF4-FFF2-40B4-BE49-F238E27FC236}">
                <a16:creationId xmlns:a16="http://schemas.microsoft.com/office/drawing/2014/main" id="{E96D3AF1-35CB-7AFF-D167-6AEF0A5F1582}"/>
              </a:ext>
            </a:extLst>
          </p:cNvPr>
          <p:cNvSpPr txBox="1"/>
          <p:nvPr/>
        </p:nvSpPr>
        <p:spPr>
          <a:xfrm>
            <a:off x="860663" y="2631120"/>
            <a:ext cx="6077259" cy="276999"/>
          </a:xfrm>
          <a:prstGeom prst="rect">
            <a:avLst/>
          </a:prstGeom>
          <a:noFill/>
        </p:spPr>
        <p:txBody>
          <a:bodyPr wrap="square" rtlCol="0">
            <a:spAutoFit/>
          </a:bodyPr>
          <a:lstStyle/>
          <a:p>
            <a:pPr lvl="0" algn="just"/>
            <a:r>
              <a:rPr lang="en-US" sz="1200" b="1" dirty="0">
                <a:solidFill>
                  <a:srgbClr val="003F7E"/>
                </a:solidFill>
                <a:latin typeface="Montserrat"/>
              </a:rPr>
              <a:t> </a:t>
            </a:r>
            <a:endParaRPr lang="en-US" dirty="0">
              <a:latin typeface="Calisto MT" panose="02040603050505030304" pitchFamily="18" charset="0"/>
            </a:endParaRPr>
          </a:p>
        </p:txBody>
      </p:sp>
      <p:pic>
        <p:nvPicPr>
          <p:cNvPr id="11" name="Picture 10">
            <a:extLst>
              <a:ext uri="{FF2B5EF4-FFF2-40B4-BE49-F238E27FC236}">
                <a16:creationId xmlns:a16="http://schemas.microsoft.com/office/drawing/2014/main" id="{4F811A6B-DC0F-E40E-9418-ECBC87E2347C}"/>
              </a:ext>
            </a:extLst>
          </p:cNvPr>
          <p:cNvPicPr>
            <a:picLocks noChangeAspect="1"/>
          </p:cNvPicPr>
          <p:nvPr/>
        </p:nvPicPr>
        <p:blipFill>
          <a:blip r:embed="rId3"/>
          <a:stretch>
            <a:fillRect/>
          </a:stretch>
        </p:blipFill>
        <p:spPr>
          <a:xfrm>
            <a:off x="165302" y="138130"/>
            <a:ext cx="960122" cy="1170434"/>
          </a:xfrm>
          <a:prstGeom prst="rect">
            <a:avLst/>
          </a:prstGeom>
        </p:spPr>
      </p:pic>
      <p:graphicFrame>
        <p:nvGraphicFramePr>
          <p:cNvPr id="4" name="Table 3">
            <a:extLst>
              <a:ext uri="{FF2B5EF4-FFF2-40B4-BE49-F238E27FC236}">
                <a16:creationId xmlns:a16="http://schemas.microsoft.com/office/drawing/2014/main" id="{191DCDB5-E294-4A9B-D833-E4FF23E7479A}"/>
              </a:ext>
            </a:extLst>
          </p:cNvPr>
          <p:cNvGraphicFramePr>
            <a:graphicFrameLocks noGrp="1"/>
          </p:cNvGraphicFramePr>
          <p:nvPr>
            <p:extLst>
              <p:ext uri="{D42A27DB-BD31-4B8C-83A1-F6EECF244321}">
                <p14:modId xmlns:p14="http://schemas.microsoft.com/office/powerpoint/2010/main" val="1564418253"/>
              </p:ext>
            </p:extLst>
          </p:nvPr>
        </p:nvGraphicFramePr>
        <p:xfrm>
          <a:off x="517539" y="1381579"/>
          <a:ext cx="7765799" cy="3494654"/>
        </p:xfrm>
        <a:graphic>
          <a:graphicData uri="http://schemas.openxmlformats.org/drawingml/2006/table">
            <a:tbl>
              <a:tblPr firstRow="1" bandRow="1">
                <a:tableStyleId>{937DBE58-439A-43C2-9BEE-16E4DBF8C7AB}</a:tableStyleId>
              </a:tblPr>
              <a:tblGrid>
                <a:gridCol w="376690">
                  <a:extLst>
                    <a:ext uri="{9D8B030D-6E8A-4147-A177-3AD203B41FA5}">
                      <a16:colId xmlns:a16="http://schemas.microsoft.com/office/drawing/2014/main" val="2653399223"/>
                    </a:ext>
                  </a:extLst>
                </a:gridCol>
                <a:gridCol w="3590365">
                  <a:extLst>
                    <a:ext uri="{9D8B030D-6E8A-4147-A177-3AD203B41FA5}">
                      <a16:colId xmlns:a16="http://schemas.microsoft.com/office/drawing/2014/main" val="1821195311"/>
                    </a:ext>
                  </a:extLst>
                </a:gridCol>
                <a:gridCol w="961465">
                  <a:extLst>
                    <a:ext uri="{9D8B030D-6E8A-4147-A177-3AD203B41FA5}">
                      <a16:colId xmlns:a16="http://schemas.microsoft.com/office/drawing/2014/main" val="3686222043"/>
                    </a:ext>
                  </a:extLst>
                </a:gridCol>
                <a:gridCol w="1277470">
                  <a:extLst>
                    <a:ext uri="{9D8B030D-6E8A-4147-A177-3AD203B41FA5}">
                      <a16:colId xmlns:a16="http://schemas.microsoft.com/office/drawing/2014/main" val="3099338594"/>
                    </a:ext>
                  </a:extLst>
                </a:gridCol>
                <a:gridCol w="726142">
                  <a:extLst>
                    <a:ext uri="{9D8B030D-6E8A-4147-A177-3AD203B41FA5}">
                      <a16:colId xmlns:a16="http://schemas.microsoft.com/office/drawing/2014/main" val="100084337"/>
                    </a:ext>
                  </a:extLst>
                </a:gridCol>
                <a:gridCol w="833667">
                  <a:extLst>
                    <a:ext uri="{9D8B030D-6E8A-4147-A177-3AD203B41FA5}">
                      <a16:colId xmlns:a16="http://schemas.microsoft.com/office/drawing/2014/main" val="2445015444"/>
                    </a:ext>
                  </a:extLst>
                </a:gridCol>
              </a:tblGrid>
              <a:tr h="370840">
                <a:tc>
                  <a:txBody>
                    <a:bodyPr/>
                    <a:lstStyle/>
                    <a:p>
                      <a:r>
                        <a:rPr lang="en-US" sz="900" b="1" i="0" u="none" strike="noStrike" cap="none" dirty="0">
                          <a:solidFill>
                            <a:srgbClr val="003F7E"/>
                          </a:solidFill>
                          <a:latin typeface="Montserrat"/>
                          <a:sym typeface="Montserrat"/>
                        </a:rPr>
                        <a:t>Sr No</a:t>
                      </a:r>
                    </a:p>
                  </a:txBody>
                  <a:tcPr/>
                </a:tc>
                <a:tc>
                  <a:txBody>
                    <a:bodyPr/>
                    <a:lstStyle/>
                    <a:p>
                      <a:r>
                        <a:rPr lang="en-US" sz="900" b="1" i="0" u="none" strike="noStrike" cap="none" dirty="0">
                          <a:solidFill>
                            <a:srgbClr val="003F7E"/>
                          </a:solidFill>
                          <a:latin typeface="Montserrat"/>
                          <a:sym typeface="Montserrat"/>
                        </a:rPr>
                        <a:t>Project Description</a:t>
                      </a:r>
                    </a:p>
                  </a:txBody>
                  <a:tcPr/>
                </a:tc>
                <a:tc>
                  <a:txBody>
                    <a:bodyPr/>
                    <a:lstStyle/>
                    <a:p>
                      <a:r>
                        <a:rPr lang="en-US" sz="900" b="1" i="0" u="none" strike="noStrike" cap="none" dirty="0">
                          <a:solidFill>
                            <a:srgbClr val="003F7E"/>
                          </a:solidFill>
                          <a:latin typeface="Montserrat"/>
                          <a:sym typeface="Montserrat"/>
                        </a:rPr>
                        <a:t>Status</a:t>
                      </a:r>
                    </a:p>
                  </a:txBody>
                  <a:tcPr/>
                </a:tc>
                <a:tc>
                  <a:txBody>
                    <a:bodyPr/>
                    <a:lstStyle/>
                    <a:p>
                      <a:r>
                        <a:rPr lang="en-US" sz="900" b="1" i="0" u="none" strike="noStrike" cap="none" dirty="0">
                          <a:solidFill>
                            <a:srgbClr val="003F7E"/>
                          </a:solidFill>
                          <a:latin typeface="Montserrat"/>
                          <a:sym typeface="Montserrat"/>
                        </a:rPr>
                        <a:t>Client / Owner</a:t>
                      </a:r>
                    </a:p>
                  </a:txBody>
                  <a:tcPr/>
                </a:tc>
                <a:tc>
                  <a:txBody>
                    <a:bodyPr/>
                    <a:lstStyle/>
                    <a:p>
                      <a:r>
                        <a:rPr lang="en-US" sz="900" b="1" i="0" u="none" strike="noStrike" cap="none" dirty="0">
                          <a:solidFill>
                            <a:srgbClr val="003F7E"/>
                          </a:solidFill>
                          <a:latin typeface="Montserrat"/>
                          <a:sym typeface="Montserrat"/>
                        </a:rPr>
                        <a:t>Contract Value</a:t>
                      </a:r>
                    </a:p>
                  </a:txBody>
                  <a:tcPr/>
                </a:tc>
                <a:tc>
                  <a:txBody>
                    <a:bodyPr/>
                    <a:lstStyle/>
                    <a:p>
                      <a:r>
                        <a:rPr lang="en-US" sz="900" b="1" i="0" u="none" strike="noStrike" cap="none" dirty="0">
                          <a:solidFill>
                            <a:srgbClr val="003F7E"/>
                          </a:solidFill>
                          <a:latin typeface="Montserrat"/>
                          <a:sym typeface="Montserrat"/>
                        </a:rPr>
                        <a:t>Project Value (Rs)</a:t>
                      </a:r>
                    </a:p>
                  </a:txBody>
                  <a:tcPr/>
                </a:tc>
                <a:extLst>
                  <a:ext uri="{0D108BD9-81ED-4DB2-BD59-A6C34878D82A}">
                    <a16:rowId xmlns:a16="http://schemas.microsoft.com/office/drawing/2014/main" val="1271740295"/>
                  </a:ext>
                </a:extLst>
              </a:tr>
              <a:tr h="264640">
                <a:tc>
                  <a:txBody>
                    <a:bodyPr/>
                    <a:lstStyle/>
                    <a:p>
                      <a:pPr algn="ctr"/>
                      <a:r>
                        <a:rPr lang="en-US" sz="800" dirty="0">
                          <a:solidFill>
                            <a:schemeClr val="tx1"/>
                          </a:solidFill>
                          <a:latin typeface="Calisto MT" panose="02040603050505030304" pitchFamily="18" charset="0"/>
                        </a:rPr>
                        <a:t>19</a:t>
                      </a:r>
                    </a:p>
                  </a:txBody>
                  <a:tcPr anchor="ctr"/>
                </a:tc>
                <a:tc>
                  <a:txBody>
                    <a:bodyPr/>
                    <a:lstStyle/>
                    <a:p>
                      <a:pPr>
                        <a:buNone/>
                      </a:pPr>
                      <a:r>
                        <a:rPr lang="en-US" sz="800" b="0" i="0" dirty="0">
                          <a:solidFill>
                            <a:schemeClr val="tx1"/>
                          </a:solidFill>
                          <a:effectLst/>
                          <a:latin typeface="Calisto MT" panose="02040603050505030304" pitchFamily="18" charset="0"/>
                        </a:rPr>
                        <a:t>Installation of  02 No of 900 GPM Sub-</a:t>
                      </a:r>
                      <a:r>
                        <a:rPr lang="en-US" sz="800" b="0" i="0" dirty="0" err="1">
                          <a:solidFill>
                            <a:schemeClr val="tx1"/>
                          </a:solidFill>
                          <a:effectLst/>
                          <a:latin typeface="Calisto MT" panose="02040603050505030304" pitchFamily="18" charset="0"/>
                        </a:rPr>
                        <a:t>mersible</a:t>
                      </a:r>
                      <a:r>
                        <a:rPr lang="en-US" sz="800" b="0" i="0" dirty="0">
                          <a:solidFill>
                            <a:schemeClr val="tx1"/>
                          </a:solidFill>
                          <a:effectLst/>
                          <a:latin typeface="Calisto MT" panose="02040603050505030304" pitchFamily="18" charset="0"/>
                        </a:rPr>
                        <a:t> sludge pumps , Nowshera KPK</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NTDC</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14</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14 </a:t>
                      </a:r>
                      <a:r>
                        <a:rPr lang="en-US" sz="800" b="0" i="0" u="none" strike="noStrike" cap="none">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4156879928"/>
                  </a:ext>
                </a:extLst>
              </a:tr>
              <a:tr h="292430">
                <a:tc>
                  <a:txBody>
                    <a:bodyPr/>
                    <a:lstStyle/>
                    <a:p>
                      <a:pPr algn="ctr"/>
                      <a:r>
                        <a:rPr lang="en-US" sz="800" dirty="0">
                          <a:solidFill>
                            <a:schemeClr val="tx1"/>
                          </a:solidFill>
                          <a:latin typeface="Calisto MT" panose="02040603050505030304" pitchFamily="18" charset="0"/>
                        </a:rPr>
                        <a:t>20</a:t>
                      </a:r>
                    </a:p>
                  </a:txBody>
                  <a:tcPr anchor="ctr"/>
                </a:tc>
                <a:tc>
                  <a:txBody>
                    <a:bodyPr/>
                    <a:lstStyle/>
                    <a:p>
                      <a:pPr>
                        <a:buNone/>
                      </a:pPr>
                      <a:r>
                        <a:rPr lang="en-US" sz="800" b="0" i="0">
                          <a:solidFill>
                            <a:schemeClr val="tx1"/>
                          </a:solidFill>
                          <a:effectLst/>
                          <a:latin typeface="Calisto MT" panose="02040603050505030304" pitchFamily="18" charset="0"/>
                        </a:rPr>
                        <a:t>Chemical proofing or UG water tank (2500m3) , Nowshera KPK</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Completed </a:t>
                      </a: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b="0" i="0">
                          <a:solidFill>
                            <a:schemeClr val="tx1"/>
                          </a:solidFill>
                          <a:effectLst/>
                          <a:latin typeface="Calisto MT" panose="02040603050505030304" pitchFamily="18" charset="0"/>
                        </a:rPr>
                        <a:t>NTDC</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a:solidFill>
                            <a:schemeClr val="tx1"/>
                          </a:solidFill>
                          <a:effectLst/>
                          <a:latin typeface="Calisto MT" panose="02040603050505030304" pitchFamily="18" charset="0"/>
                        </a:rPr>
                        <a:t>06</a:t>
                      </a:r>
                      <a:endParaRPr lang="en-US" sz="800" dirty="0">
                        <a:solidFill>
                          <a:schemeClr val="tx1"/>
                        </a:solidFill>
                        <a:effectLst/>
                        <a:latin typeface="Calisto MT" panose="02040603050505030304" pitchFamily="18" charset="0"/>
                      </a:endParaRPr>
                    </a:p>
                  </a:txBody>
                  <a:tcPr anchor="ctr"/>
                </a:tc>
                <a:tc>
                  <a:txBody>
                    <a:bodyPr/>
                    <a:lstStyle/>
                    <a:p>
                      <a:pPr algn="ctr">
                        <a:buNone/>
                      </a:pPr>
                      <a:r>
                        <a:rPr lang="en-US" sz="800" b="0" i="0" dirty="0">
                          <a:solidFill>
                            <a:schemeClr val="tx1"/>
                          </a:solidFill>
                          <a:effectLst/>
                          <a:latin typeface="Calisto MT" panose="02040603050505030304" pitchFamily="18" charset="0"/>
                        </a:rPr>
                        <a:t>06 </a:t>
                      </a:r>
                      <a:r>
                        <a:rPr lang="en-US" sz="800" b="0" i="0" u="none" strike="noStrike" cap="none" dirty="0">
                          <a:solidFill>
                            <a:schemeClr val="tx1"/>
                          </a:solidFill>
                          <a:effectLst/>
                          <a:latin typeface="Calisto MT" panose="02040603050505030304" pitchFamily="18" charset="0"/>
                          <a:cs typeface="Arial"/>
                          <a:sym typeface="Arial"/>
                        </a:rPr>
                        <a:t>Million</a:t>
                      </a:r>
                      <a:endParaRPr lang="en-US" sz="800" b="0" dirty="0">
                        <a:solidFill>
                          <a:schemeClr val="tx1"/>
                        </a:solidFill>
                        <a:effectLst/>
                        <a:latin typeface="Calisto MT" panose="02040603050505030304" pitchFamily="18" charset="0"/>
                      </a:endParaRPr>
                    </a:p>
                  </a:txBody>
                  <a:tcPr anchor="ctr"/>
                </a:tc>
                <a:extLst>
                  <a:ext uri="{0D108BD9-81ED-4DB2-BD59-A6C34878D82A}">
                    <a16:rowId xmlns:a16="http://schemas.microsoft.com/office/drawing/2014/main" val="1849677302"/>
                  </a:ext>
                </a:extLst>
              </a:tr>
              <a:tr h="302559">
                <a:tc>
                  <a:txBody>
                    <a:bodyPr/>
                    <a:lstStyle/>
                    <a:p>
                      <a:pPr algn="ctr"/>
                      <a:r>
                        <a:rPr lang="en-US" sz="800" dirty="0">
                          <a:solidFill>
                            <a:schemeClr val="tx1"/>
                          </a:solidFill>
                          <a:latin typeface="Calisto MT" panose="02040603050505030304" pitchFamily="18" charset="0"/>
                        </a:rPr>
                        <a:t>21</a:t>
                      </a:r>
                    </a:p>
                  </a:txBody>
                  <a:tcPr anchor="ctr"/>
                </a:tc>
                <a:tc>
                  <a:txBody>
                    <a:bodyPr/>
                    <a:lstStyle/>
                    <a:p>
                      <a:pPr marR="0" algn="l" rtl="0">
                        <a:lnSpc>
                          <a:spcPct val="100000"/>
                        </a:lnSpc>
                        <a:spcBef>
                          <a:spcPts val="0"/>
                        </a:spcBef>
                        <a:spcAft>
                          <a:spcPts val="0"/>
                        </a:spcAft>
                        <a:buClr>
                          <a:srgbClr val="000000"/>
                        </a:buClr>
                        <a:buFont typeface="Arial"/>
                        <a:buNone/>
                      </a:pPr>
                      <a:endParaRPr lang="en-US" sz="800" b="0" i="0" u="none" strike="noStrike" cap="none" dirty="0">
                        <a:solidFill>
                          <a:schemeClr val="tx1"/>
                        </a:solidFill>
                        <a:effectLst/>
                        <a:latin typeface="Calisto MT" panose="02040603050505030304" pitchFamily="18" charset="0"/>
                        <a:cs typeface="Arial"/>
                        <a:sym typeface="Arial"/>
                      </a:endParaRPr>
                    </a:p>
                    <a:p>
                      <a:pPr marR="0" algn="l" rtl="0">
                        <a:lnSpc>
                          <a:spcPct val="100000"/>
                        </a:lnSpc>
                        <a:spcBef>
                          <a:spcPts val="0"/>
                        </a:spcBef>
                        <a:spcAft>
                          <a:spcPts val="0"/>
                        </a:spcAft>
                        <a:buClr>
                          <a:srgbClr val="000000"/>
                        </a:buClr>
                        <a:buFont typeface="Arial"/>
                        <a:buNone/>
                      </a:pPr>
                      <a:r>
                        <a:rPr lang="en-US" sz="800" b="0" i="0" u="none" strike="noStrike" cap="none" dirty="0">
                          <a:solidFill>
                            <a:schemeClr val="tx1"/>
                          </a:solidFill>
                          <a:effectLst/>
                          <a:latin typeface="Calisto MT" panose="02040603050505030304" pitchFamily="18" charset="0"/>
                          <a:cs typeface="Arial"/>
                          <a:sym typeface="Arial"/>
                        </a:rPr>
                        <a:t>Rehabilitation of PAK PWD ( Drinking water Supply Scheme at U/C Hissam</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dirty="0">
                          <a:solidFill>
                            <a:schemeClr val="tx1"/>
                          </a:solidFill>
                          <a:effectLst/>
                          <a:latin typeface="Calisto MT" panose="02040603050505030304" pitchFamily="18" charset="0"/>
                          <a:cs typeface="Arial"/>
                          <a:sym typeface="Arial"/>
                        </a:rPr>
                        <a:t>Completed </a:t>
                      </a:r>
                    </a:p>
                  </a:txBody>
                  <a:tcPr anchor="ctr"/>
                </a:tc>
                <a:tc>
                  <a:txBody>
                    <a:bodyPr/>
                    <a:lstStyle/>
                    <a:p>
                      <a:pPr>
                        <a:buNone/>
                      </a:pPr>
                      <a:r>
                        <a:rPr lang="en-US" sz="800" dirty="0">
                          <a:solidFill>
                            <a:schemeClr val="tx1"/>
                          </a:solidFill>
                          <a:effectLst/>
                          <a:latin typeface="Calisto MT" panose="02040603050505030304" pitchFamily="18" charset="0"/>
                        </a:rPr>
                        <a:t>PHE Division DIKhan</a:t>
                      </a:r>
                    </a:p>
                  </a:txBody>
                  <a:tcPr anchor="ctr"/>
                </a:tc>
                <a:tc>
                  <a:txBody>
                    <a:bodyPr/>
                    <a:lstStyle/>
                    <a:p>
                      <a:pPr algn="ctr">
                        <a:buNone/>
                      </a:pPr>
                      <a:r>
                        <a:rPr lang="en-US" sz="800" dirty="0">
                          <a:solidFill>
                            <a:schemeClr val="tx1"/>
                          </a:solidFill>
                          <a:effectLst/>
                          <a:latin typeface="Calisto MT" panose="02040603050505030304" pitchFamily="18" charset="0"/>
                        </a:rPr>
                        <a:t>4.5</a:t>
                      </a:r>
                    </a:p>
                  </a:txBody>
                  <a:tcPr anchor="ctr"/>
                </a:tc>
                <a:tc>
                  <a:txBody>
                    <a:bodyPr/>
                    <a:lstStyle/>
                    <a:p>
                      <a:pPr algn="ctr">
                        <a:buNone/>
                      </a:pPr>
                      <a:r>
                        <a:rPr lang="en-US" sz="800" b="0" dirty="0">
                          <a:solidFill>
                            <a:schemeClr val="tx1"/>
                          </a:solidFill>
                          <a:effectLst/>
                          <a:latin typeface="Calisto MT" panose="02040603050505030304" pitchFamily="18" charset="0"/>
                        </a:rPr>
                        <a:t>4.5 Million</a:t>
                      </a:r>
                    </a:p>
                  </a:txBody>
                  <a:tcPr anchor="ctr"/>
                </a:tc>
                <a:extLst>
                  <a:ext uri="{0D108BD9-81ED-4DB2-BD59-A6C34878D82A}">
                    <a16:rowId xmlns:a16="http://schemas.microsoft.com/office/drawing/2014/main" val="2330427741"/>
                  </a:ext>
                </a:extLst>
              </a:tr>
              <a:tr h="0">
                <a:tc>
                  <a:txBody>
                    <a:bodyPr/>
                    <a:lstStyle/>
                    <a:p>
                      <a:pPr algn="ctr"/>
                      <a:r>
                        <a:rPr lang="en-US" sz="800" dirty="0">
                          <a:solidFill>
                            <a:schemeClr val="tx1"/>
                          </a:solidFill>
                          <a:latin typeface="Calisto MT" panose="02040603050505030304" pitchFamily="18" charset="0"/>
                        </a:rPr>
                        <a:t>22</a:t>
                      </a:r>
                    </a:p>
                  </a:txBody>
                  <a:tcPr anchor="ctr"/>
                </a:tc>
                <a:tc>
                  <a:txBody>
                    <a:bodyPr/>
                    <a:lstStyle/>
                    <a:p>
                      <a:pPr marR="0" algn="l" rtl="0">
                        <a:lnSpc>
                          <a:spcPct val="100000"/>
                        </a:lnSpc>
                        <a:spcBef>
                          <a:spcPts val="0"/>
                        </a:spcBef>
                        <a:spcAft>
                          <a:spcPts val="0"/>
                        </a:spcAft>
                        <a:buClr>
                          <a:srgbClr val="000000"/>
                        </a:buClr>
                        <a:buFont typeface="Arial"/>
                        <a:buNone/>
                      </a:pPr>
                      <a:endParaRPr lang="en-US" sz="800" b="0" i="0" u="none" strike="noStrike" cap="none" dirty="0">
                        <a:solidFill>
                          <a:schemeClr val="tx1"/>
                        </a:solidFill>
                        <a:effectLst/>
                        <a:latin typeface="Calisto MT" panose="02040603050505030304" pitchFamily="18" charset="0"/>
                        <a:cs typeface="Arial"/>
                        <a:sym typeface="Arial"/>
                      </a:endParaRPr>
                    </a:p>
                    <a:p>
                      <a:pPr marR="0" algn="l" rtl="0">
                        <a:lnSpc>
                          <a:spcPct val="100000"/>
                        </a:lnSpc>
                        <a:spcBef>
                          <a:spcPts val="0"/>
                        </a:spcBef>
                        <a:spcAft>
                          <a:spcPts val="0"/>
                        </a:spcAft>
                        <a:buClr>
                          <a:srgbClr val="000000"/>
                        </a:buClr>
                        <a:buFont typeface="Arial"/>
                        <a:buNone/>
                      </a:pPr>
                      <a:r>
                        <a:rPr lang="en-US" sz="800" b="0" i="0" u="none" strike="noStrike" cap="none" dirty="0">
                          <a:solidFill>
                            <a:schemeClr val="tx1"/>
                          </a:solidFill>
                          <a:effectLst/>
                          <a:latin typeface="Calisto MT" panose="02040603050505030304" pitchFamily="18" charset="0"/>
                          <a:cs typeface="Arial"/>
                          <a:sym typeface="Arial"/>
                        </a:rPr>
                        <a:t>Rehabilitation of PAK PWD ( Drinking water Supply Scheme at U/C Hissam</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dirty="0">
                          <a:solidFill>
                            <a:schemeClr val="tx1"/>
                          </a:solidFill>
                          <a:effectLst/>
                          <a:latin typeface="Calisto MT" panose="02040603050505030304" pitchFamily="18" charset="0"/>
                          <a:cs typeface="Arial"/>
                          <a:sym typeface="Arial"/>
                        </a:rPr>
                        <a:t>Completed </a:t>
                      </a:r>
                    </a:p>
                  </a:txBody>
                  <a:tcPr anchor="ctr"/>
                </a:tc>
                <a:tc>
                  <a:txBody>
                    <a:bodyPr/>
                    <a:lstStyle/>
                    <a:p>
                      <a:pPr>
                        <a:buNone/>
                      </a:pPr>
                      <a:r>
                        <a:rPr lang="en-US" sz="800" dirty="0">
                          <a:solidFill>
                            <a:schemeClr val="tx1"/>
                          </a:solidFill>
                          <a:effectLst/>
                          <a:latin typeface="Calisto MT" panose="02040603050505030304" pitchFamily="18" charset="0"/>
                        </a:rPr>
                        <a:t>PHE Division DIKhan</a:t>
                      </a:r>
                    </a:p>
                  </a:txBody>
                  <a:tcPr anchor="ctr"/>
                </a:tc>
                <a:tc>
                  <a:txBody>
                    <a:bodyPr/>
                    <a:lstStyle/>
                    <a:p>
                      <a:pPr algn="ctr">
                        <a:buNone/>
                      </a:pPr>
                      <a:r>
                        <a:rPr lang="en-US" sz="800" dirty="0">
                          <a:solidFill>
                            <a:schemeClr val="tx1"/>
                          </a:solidFill>
                          <a:effectLst/>
                          <a:latin typeface="Calisto MT" panose="02040603050505030304" pitchFamily="18" charset="0"/>
                        </a:rPr>
                        <a:t>5.1</a:t>
                      </a:r>
                    </a:p>
                  </a:txBody>
                  <a:tcPr anchor="ctr"/>
                </a:tc>
                <a:tc>
                  <a:txBody>
                    <a:bodyPr/>
                    <a:lstStyle/>
                    <a:p>
                      <a:pPr algn="ctr">
                        <a:buNone/>
                      </a:pPr>
                      <a:r>
                        <a:rPr lang="en-US" sz="800" b="0" dirty="0">
                          <a:solidFill>
                            <a:schemeClr val="tx1"/>
                          </a:solidFill>
                          <a:effectLst/>
                          <a:latin typeface="Calisto MT" panose="02040603050505030304" pitchFamily="18" charset="0"/>
                        </a:rPr>
                        <a:t>5.1 Million</a:t>
                      </a:r>
                    </a:p>
                  </a:txBody>
                  <a:tcPr anchor="ctr"/>
                </a:tc>
                <a:extLst>
                  <a:ext uri="{0D108BD9-81ED-4DB2-BD59-A6C34878D82A}">
                    <a16:rowId xmlns:a16="http://schemas.microsoft.com/office/drawing/2014/main" val="1913163839"/>
                  </a:ext>
                </a:extLst>
              </a:tr>
              <a:tr h="342184">
                <a:tc>
                  <a:txBody>
                    <a:bodyPr/>
                    <a:lstStyle/>
                    <a:p>
                      <a:pPr algn="ctr"/>
                      <a:r>
                        <a:rPr lang="en-US" sz="800" dirty="0">
                          <a:solidFill>
                            <a:schemeClr val="tx1"/>
                          </a:solidFill>
                          <a:latin typeface="Calisto MT" panose="02040603050505030304" pitchFamily="18" charset="0"/>
                        </a:rPr>
                        <a:t>23</a:t>
                      </a:r>
                    </a:p>
                  </a:txBody>
                  <a:tcPr anchor="ctr"/>
                </a:tc>
                <a:tc>
                  <a:txBody>
                    <a:bodyPr/>
                    <a:lstStyle/>
                    <a:p>
                      <a:pPr>
                        <a:buNone/>
                      </a:pPr>
                      <a:r>
                        <a:rPr lang="en-US" sz="800" dirty="0">
                          <a:solidFill>
                            <a:schemeClr val="tx1"/>
                          </a:solidFill>
                          <a:effectLst/>
                          <a:latin typeface="Calisto MT" panose="02040603050505030304" pitchFamily="18" charset="0"/>
                        </a:rPr>
                        <a:t>Construction of Flood Protection Band for Gandi </a:t>
                      </a:r>
                      <a:r>
                        <a:rPr lang="en-US" sz="800" dirty="0" err="1">
                          <a:solidFill>
                            <a:schemeClr val="tx1"/>
                          </a:solidFill>
                          <a:effectLst/>
                          <a:latin typeface="Calisto MT" panose="02040603050505030304" pitchFamily="18" charset="0"/>
                        </a:rPr>
                        <a:t>Gaibullah</a:t>
                      </a:r>
                      <a:r>
                        <a:rPr lang="en-US" sz="800" dirty="0">
                          <a:solidFill>
                            <a:schemeClr val="tx1"/>
                          </a:solidFill>
                          <a:effectLst/>
                          <a:latin typeface="Calisto MT" panose="02040603050505030304" pitchFamily="18" charset="0"/>
                        </a:rPr>
                        <a:t> &amp; </a:t>
                      </a:r>
                      <a:r>
                        <a:rPr lang="en-US" sz="800" dirty="0" err="1">
                          <a:solidFill>
                            <a:schemeClr val="tx1"/>
                          </a:solidFill>
                          <a:effectLst/>
                          <a:latin typeface="Calisto MT" panose="02040603050505030304" pitchFamily="18" charset="0"/>
                        </a:rPr>
                        <a:t>Looni</a:t>
                      </a:r>
                      <a:r>
                        <a:rPr lang="en-US" sz="800" dirty="0">
                          <a:solidFill>
                            <a:schemeClr val="tx1"/>
                          </a:solidFill>
                          <a:effectLst/>
                          <a:latin typeface="Calisto MT" panose="02040603050505030304" pitchFamily="18" charset="0"/>
                        </a:rPr>
                        <a:t> District DIKhan</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dirty="0">
                          <a:solidFill>
                            <a:schemeClr val="tx1"/>
                          </a:solidFill>
                          <a:effectLst/>
                          <a:latin typeface="Calisto MT" panose="02040603050505030304" pitchFamily="18" charset="0"/>
                          <a:cs typeface="Arial"/>
                          <a:sym typeface="Arial"/>
                        </a:rPr>
                        <a:t>Completed </a:t>
                      </a:r>
                    </a:p>
                  </a:txBody>
                  <a:tcPr anchor="ctr"/>
                </a:tc>
                <a:tc>
                  <a:txBody>
                    <a:bodyPr/>
                    <a:lstStyle/>
                    <a:p>
                      <a:pPr>
                        <a:buNone/>
                      </a:pPr>
                      <a:r>
                        <a:rPr lang="en-US" sz="800" dirty="0">
                          <a:solidFill>
                            <a:schemeClr val="tx1"/>
                          </a:solidFill>
                          <a:effectLst/>
                          <a:latin typeface="Calisto MT" panose="02040603050505030304" pitchFamily="18" charset="0"/>
                        </a:rPr>
                        <a:t>Gomal Zam Irrigation Division DIKhan</a:t>
                      </a:r>
                    </a:p>
                  </a:txBody>
                  <a:tcPr anchor="ctr"/>
                </a:tc>
                <a:tc>
                  <a:txBody>
                    <a:bodyPr/>
                    <a:lstStyle/>
                    <a:p>
                      <a:pPr algn="ctr">
                        <a:buNone/>
                      </a:pPr>
                      <a:r>
                        <a:rPr lang="en-US" sz="800" dirty="0">
                          <a:solidFill>
                            <a:schemeClr val="tx1"/>
                          </a:solidFill>
                          <a:effectLst/>
                          <a:latin typeface="Calisto MT" panose="02040603050505030304" pitchFamily="18" charset="0"/>
                        </a:rPr>
                        <a:t>10</a:t>
                      </a:r>
                    </a:p>
                  </a:txBody>
                  <a:tcPr anchor="ctr"/>
                </a:tc>
                <a:tc>
                  <a:txBody>
                    <a:bodyPr/>
                    <a:lstStyle/>
                    <a:p>
                      <a:pPr algn="ctr">
                        <a:buNone/>
                      </a:pPr>
                      <a:r>
                        <a:rPr lang="en-US" sz="800" b="0" dirty="0">
                          <a:solidFill>
                            <a:schemeClr val="tx1"/>
                          </a:solidFill>
                          <a:effectLst/>
                          <a:latin typeface="Calisto MT" panose="02040603050505030304" pitchFamily="18" charset="0"/>
                        </a:rPr>
                        <a:t>10 Million</a:t>
                      </a:r>
                    </a:p>
                  </a:txBody>
                  <a:tcPr anchor="ctr"/>
                </a:tc>
                <a:extLst>
                  <a:ext uri="{0D108BD9-81ED-4DB2-BD59-A6C34878D82A}">
                    <a16:rowId xmlns:a16="http://schemas.microsoft.com/office/drawing/2014/main" val="3567563310"/>
                  </a:ext>
                </a:extLst>
              </a:tr>
              <a:tr h="370840">
                <a:tc>
                  <a:txBody>
                    <a:bodyPr/>
                    <a:lstStyle/>
                    <a:p>
                      <a:pPr algn="ctr"/>
                      <a:r>
                        <a:rPr lang="en-US" sz="800" dirty="0">
                          <a:solidFill>
                            <a:schemeClr val="tx1"/>
                          </a:solidFill>
                          <a:latin typeface="Calisto MT" panose="02040603050505030304" pitchFamily="18" charset="0"/>
                        </a:rPr>
                        <a:t>24</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solidFill>
                            <a:schemeClr val="tx1"/>
                          </a:solidFill>
                          <a:effectLst/>
                          <a:latin typeface="Calisto MT" panose="02040603050505030304" pitchFamily="18" charset="0"/>
                        </a:rPr>
                        <a:t>Construction of Flood Protection Band for Gandi </a:t>
                      </a:r>
                      <a:r>
                        <a:rPr lang="en-US" sz="800" dirty="0" err="1">
                          <a:solidFill>
                            <a:schemeClr val="tx1"/>
                          </a:solidFill>
                          <a:effectLst/>
                          <a:latin typeface="Calisto MT" panose="02040603050505030304" pitchFamily="18" charset="0"/>
                        </a:rPr>
                        <a:t>Tummani</a:t>
                      </a:r>
                      <a:r>
                        <a:rPr lang="en-US" sz="800" dirty="0">
                          <a:solidFill>
                            <a:schemeClr val="tx1"/>
                          </a:solidFill>
                          <a:effectLst/>
                          <a:latin typeface="Calisto MT" panose="02040603050505030304" pitchFamily="18" charset="0"/>
                        </a:rPr>
                        <a:t>, &amp; </a:t>
                      </a:r>
                      <a:r>
                        <a:rPr lang="en-US" sz="800" dirty="0" err="1">
                          <a:solidFill>
                            <a:schemeClr val="tx1"/>
                          </a:solidFill>
                          <a:effectLst/>
                          <a:latin typeface="Calisto MT" panose="02040603050505030304" pitchFamily="18" charset="0"/>
                        </a:rPr>
                        <a:t>Looni</a:t>
                      </a:r>
                      <a:r>
                        <a:rPr lang="en-US" sz="800" dirty="0">
                          <a:solidFill>
                            <a:schemeClr val="tx1"/>
                          </a:solidFill>
                          <a:effectLst/>
                          <a:latin typeface="Calisto MT" panose="02040603050505030304" pitchFamily="18" charset="0"/>
                        </a:rPr>
                        <a:t> District DIKhan</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dirty="0" err="1">
                          <a:solidFill>
                            <a:schemeClr val="tx1"/>
                          </a:solidFill>
                          <a:effectLst/>
                          <a:latin typeface="Calisto MT" panose="02040603050505030304" pitchFamily="18" charset="0"/>
                          <a:cs typeface="Arial"/>
                          <a:sym typeface="Arial"/>
                        </a:rPr>
                        <a:t>Inprogress</a:t>
                      </a:r>
                      <a:endParaRPr lang="en-US" sz="800" b="0" i="0" u="none" strike="noStrike" cap="none" dirty="0">
                        <a:solidFill>
                          <a:schemeClr val="tx1"/>
                        </a:solidFill>
                        <a:effectLst/>
                        <a:latin typeface="Calisto MT" panose="02040603050505030304" pitchFamily="18" charset="0"/>
                        <a:cs typeface="Arial"/>
                        <a:sym typeface="Arial"/>
                      </a:endParaRPr>
                    </a:p>
                  </a:txBody>
                  <a:tcPr anchor="ctr"/>
                </a:tc>
                <a:tc>
                  <a:txBody>
                    <a:bodyPr/>
                    <a:lstStyle/>
                    <a:p>
                      <a:pPr>
                        <a:buNone/>
                      </a:pPr>
                      <a:r>
                        <a:rPr lang="en-US" sz="800" dirty="0">
                          <a:solidFill>
                            <a:schemeClr val="tx1"/>
                          </a:solidFill>
                          <a:effectLst/>
                          <a:latin typeface="Calisto MT" panose="02040603050505030304" pitchFamily="18" charset="0"/>
                        </a:rPr>
                        <a:t>Gomal Zam Irrigation Division DIKhan</a:t>
                      </a:r>
                    </a:p>
                  </a:txBody>
                  <a:tcPr anchor="ctr"/>
                </a:tc>
                <a:tc>
                  <a:txBody>
                    <a:bodyPr/>
                    <a:lstStyle/>
                    <a:p>
                      <a:pPr algn="ctr">
                        <a:buNone/>
                      </a:pPr>
                      <a:r>
                        <a:rPr lang="en-US" sz="800" dirty="0">
                          <a:solidFill>
                            <a:schemeClr val="tx1"/>
                          </a:solidFill>
                          <a:effectLst/>
                          <a:latin typeface="Calisto MT" panose="02040603050505030304" pitchFamily="18" charset="0"/>
                        </a:rPr>
                        <a:t>10</a:t>
                      </a:r>
                    </a:p>
                  </a:txBody>
                  <a:tcPr anchor="ctr"/>
                </a:tc>
                <a:tc>
                  <a:txBody>
                    <a:bodyPr/>
                    <a:lstStyle/>
                    <a:p>
                      <a:pPr algn="ctr">
                        <a:buNone/>
                      </a:pPr>
                      <a:r>
                        <a:rPr lang="en-US" sz="800" b="0" dirty="0">
                          <a:solidFill>
                            <a:schemeClr val="tx1"/>
                          </a:solidFill>
                          <a:effectLst/>
                          <a:latin typeface="Calisto MT" panose="02040603050505030304" pitchFamily="18" charset="0"/>
                        </a:rPr>
                        <a:t>10 Million</a:t>
                      </a:r>
                    </a:p>
                  </a:txBody>
                  <a:tcPr anchor="ctr"/>
                </a:tc>
                <a:extLst>
                  <a:ext uri="{0D108BD9-81ED-4DB2-BD59-A6C34878D82A}">
                    <a16:rowId xmlns:a16="http://schemas.microsoft.com/office/drawing/2014/main" val="1581886962"/>
                  </a:ext>
                </a:extLst>
              </a:tr>
              <a:tr h="370840">
                <a:tc>
                  <a:txBody>
                    <a:bodyPr/>
                    <a:lstStyle/>
                    <a:p>
                      <a:pPr algn="ctr"/>
                      <a:r>
                        <a:rPr lang="en-US" sz="800" dirty="0">
                          <a:solidFill>
                            <a:schemeClr val="tx1"/>
                          </a:solidFill>
                          <a:latin typeface="Calisto MT" panose="02040603050505030304" pitchFamily="18" charset="0"/>
                        </a:rPr>
                        <a:t>25</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solidFill>
                            <a:schemeClr val="tx1"/>
                          </a:solidFill>
                          <a:effectLst/>
                          <a:latin typeface="Calisto MT" panose="02040603050505030304" pitchFamily="18" charset="0"/>
                        </a:rPr>
                        <a:t>Construction of Flood Protection Band Spar for Village </a:t>
                      </a:r>
                      <a:r>
                        <a:rPr lang="en-US" sz="800" dirty="0" err="1">
                          <a:solidFill>
                            <a:schemeClr val="tx1"/>
                          </a:solidFill>
                          <a:effectLst/>
                          <a:latin typeface="Calisto MT" panose="02040603050505030304" pitchFamily="18" charset="0"/>
                        </a:rPr>
                        <a:t>Looni</a:t>
                      </a:r>
                      <a:r>
                        <a:rPr lang="en-US" sz="800" dirty="0">
                          <a:solidFill>
                            <a:schemeClr val="tx1"/>
                          </a:solidFill>
                          <a:effectLst/>
                          <a:latin typeface="Calisto MT" panose="02040603050505030304" pitchFamily="18" charset="0"/>
                        </a:rPr>
                        <a:t> District DIKhan</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dirty="0">
                          <a:solidFill>
                            <a:schemeClr val="tx1"/>
                          </a:solidFill>
                          <a:effectLst/>
                          <a:latin typeface="Calisto MT" panose="02040603050505030304" pitchFamily="18" charset="0"/>
                          <a:cs typeface="Arial"/>
                          <a:sym typeface="Arial"/>
                        </a:rPr>
                        <a:t>Completed </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solidFill>
                            <a:schemeClr val="tx1"/>
                          </a:solidFill>
                          <a:effectLst/>
                          <a:latin typeface="Calisto MT" panose="02040603050505030304" pitchFamily="18" charset="0"/>
                        </a:rPr>
                        <a:t>Gomal Zam Irrigation Division DIKhan</a:t>
                      </a:r>
                    </a:p>
                  </a:txBody>
                  <a:tcPr anchor="ctr"/>
                </a:tc>
                <a:tc>
                  <a:txBody>
                    <a:bodyPr/>
                    <a:lstStyle/>
                    <a:p>
                      <a:pPr algn="ctr">
                        <a:buNone/>
                      </a:pPr>
                      <a:r>
                        <a:rPr lang="en-US" sz="800" dirty="0">
                          <a:solidFill>
                            <a:schemeClr val="tx1"/>
                          </a:solidFill>
                          <a:effectLst/>
                          <a:latin typeface="Calisto MT" panose="02040603050505030304" pitchFamily="18" charset="0"/>
                        </a:rPr>
                        <a:t>7.168</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solidFill>
                            <a:schemeClr val="tx1"/>
                          </a:solidFill>
                          <a:effectLst/>
                          <a:latin typeface="Calisto MT" panose="02040603050505030304" pitchFamily="18" charset="0"/>
                        </a:rPr>
                        <a:t>7.168 Million</a:t>
                      </a:r>
                    </a:p>
                  </a:txBody>
                  <a:tcPr anchor="ctr"/>
                </a:tc>
                <a:extLst>
                  <a:ext uri="{0D108BD9-81ED-4DB2-BD59-A6C34878D82A}">
                    <a16:rowId xmlns:a16="http://schemas.microsoft.com/office/drawing/2014/main" val="3645140907"/>
                  </a:ext>
                </a:extLst>
              </a:tr>
              <a:tr h="370840">
                <a:tc>
                  <a:txBody>
                    <a:bodyPr/>
                    <a:lstStyle/>
                    <a:p>
                      <a:pPr algn="ctr"/>
                      <a:r>
                        <a:rPr lang="en-US" sz="800" dirty="0">
                          <a:solidFill>
                            <a:schemeClr val="tx1"/>
                          </a:solidFill>
                          <a:latin typeface="Calisto MT" panose="02040603050505030304" pitchFamily="18" charset="0"/>
                        </a:rPr>
                        <a:t>26</a:t>
                      </a:r>
                    </a:p>
                  </a:txBody>
                  <a:tcPr anchor="ctr"/>
                </a:tc>
                <a:tc>
                  <a:txBody>
                    <a:bodyPr/>
                    <a:lstStyle/>
                    <a:p>
                      <a:pPr>
                        <a:buNone/>
                      </a:pPr>
                      <a:r>
                        <a:rPr lang="en-US" sz="800" dirty="0">
                          <a:solidFill>
                            <a:schemeClr val="tx1"/>
                          </a:solidFill>
                          <a:effectLst/>
                          <a:latin typeface="Calisto MT" panose="02040603050505030304" pitchFamily="18" charset="0"/>
                        </a:rPr>
                        <a:t>Providing and Installation of </a:t>
                      </a:r>
                      <a:r>
                        <a:rPr lang="en-US" sz="800" dirty="0" err="1">
                          <a:solidFill>
                            <a:schemeClr val="tx1"/>
                          </a:solidFill>
                          <a:effectLst/>
                          <a:latin typeface="Calisto MT" panose="02040603050505030304" pitchFamily="18" charset="0"/>
                        </a:rPr>
                        <a:t>Kerb</a:t>
                      </a:r>
                      <a:r>
                        <a:rPr lang="en-US" sz="800" dirty="0">
                          <a:solidFill>
                            <a:schemeClr val="tx1"/>
                          </a:solidFill>
                          <a:effectLst/>
                          <a:latin typeface="Calisto MT" panose="02040603050505030304" pitchFamily="18" charset="0"/>
                        </a:rPr>
                        <a:t> stone </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dirty="0">
                          <a:solidFill>
                            <a:schemeClr val="tx1"/>
                          </a:solidFill>
                          <a:effectLst/>
                          <a:latin typeface="Calisto MT" panose="02040603050505030304" pitchFamily="18" charset="0"/>
                          <a:cs typeface="Arial"/>
                          <a:sym typeface="Arial"/>
                        </a:rPr>
                        <a:t>Completed </a:t>
                      </a:r>
                    </a:p>
                  </a:txBody>
                  <a:tcPr anchor="ctr"/>
                </a:tc>
                <a:tc>
                  <a:txBody>
                    <a:bodyPr/>
                    <a:lstStyle/>
                    <a:p>
                      <a:pPr>
                        <a:buNone/>
                      </a:pPr>
                      <a:r>
                        <a:rPr lang="en-US" sz="800" dirty="0">
                          <a:solidFill>
                            <a:schemeClr val="tx1"/>
                          </a:solidFill>
                          <a:effectLst/>
                          <a:latin typeface="Calisto MT" panose="02040603050505030304" pitchFamily="18" charset="0"/>
                        </a:rPr>
                        <a:t>Gulberg Green Islamabad</a:t>
                      </a:r>
                    </a:p>
                  </a:txBody>
                  <a:tcPr anchor="ctr"/>
                </a:tc>
                <a:tc>
                  <a:txBody>
                    <a:bodyPr/>
                    <a:lstStyle/>
                    <a:p>
                      <a:pPr algn="ctr">
                        <a:buNone/>
                      </a:pPr>
                      <a:r>
                        <a:rPr lang="en-US" sz="800" dirty="0">
                          <a:solidFill>
                            <a:schemeClr val="tx1"/>
                          </a:solidFill>
                          <a:effectLst/>
                          <a:latin typeface="Calisto MT" panose="02040603050505030304" pitchFamily="18" charset="0"/>
                        </a:rPr>
                        <a:t>20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solidFill>
                            <a:schemeClr val="tx1"/>
                          </a:solidFill>
                          <a:effectLst/>
                          <a:latin typeface="Calisto MT" panose="02040603050505030304" pitchFamily="18" charset="0"/>
                        </a:rPr>
                        <a:t>20 Million</a:t>
                      </a:r>
                    </a:p>
                  </a:txBody>
                  <a:tcPr anchor="ctr"/>
                </a:tc>
                <a:extLst>
                  <a:ext uri="{0D108BD9-81ED-4DB2-BD59-A6C34878D82A}">
                    <a16:rowId xmlns:a16="http://schemas.microsoft.com/office/drawing/2014/main" val="2880509862"/>
                  </a:ext>
                </a:extLst>
              </a:tr>
              <a:tr h="370840">
                <a:tc>
                  <a:txBody>
                    <a:bodyPr/>
                    <a:lstStyle/>
                    <a:p>
                      <a:pPr algn="ctr"/>
                      <a:r>
                        <a:rPr lang="en-US" sz="800" dirty="0">
                          <a:solidFill>
                            <a:schemeClr val="tx1"/>
                          </a:solidFill>
                          <a:latin typeface="Calisto MT" panose="02040603050505030304" pitchFamily="18" charset="0"/>
                        </a:rPr>
                        <a:t>27</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solidFill>
                            <a:schemeClr val="tx1"/>
                          </a:solidFill>
                          <a:effectLst/>
                          <a:latin typeface="Calisto MT" panose="02040603050505030304" pitchFamily="18" charset="0"/>
                        </a:rPr>
                        <a:t>Providing and Installation of Jinnah Garden</a:t>
                      </a:r>
                    </a:p>
                    <a:p>
                      <a:pPr>
                        <a:buNone/>
                      </a:pPr>
                      <a:endParaRPr lang="en-US" sz="800" dirty="0">
                        <a:solidFill>
                          <a:schemeClr val="tx1"/>
                        </a:solidFill>
                        <a:effectLst/>
                        <a:latin typeface="Calisto MT" panose="02040603050505030304" pitchFamily="18" charset="0"/>
                      </a:endParaRPr>
                    </a:p>
                  </a:txBody>
                  <a:tcPr anchor="ctr"/>
                </a:tc>
                <a:tc>
                  <a:txBody>
                    <a:bodyPr/>
                    <a:lstStyle/>
                    <a:p>
                      <a:pPr>
                        <a:buNone/>
                      </a:pPr>
                      <a:r>
                        <a:rPr lang="en-US" sz="800" dirty="0">
                          <a:solidFill>
                            <a:schemeClr val="tx1"/>
                          </a:solidFill>
                          <a:effectLst/>
                          <a:latin typeface="Calisto MT" panose="02040603050505030304" pitchFamily="18" charset="0"/>
                        </a:rPr>
                        <a:t>Completed</a:t>
                      </a:r>
                    </a:p>
                  </a:txBody>
                  <a:tcPr anchor="ctr"/>
                </a:tc>
                <a:tc>
                  <a:txBody>
                    <a:bodyPr/>
                    <a:lstStyle/>
                    <a:p>
                      <a:pPr>
                        <a:buNone/>
                      </a:pPr>
                      <a:r>
                        <a:rPr lang="en-US" sz="800" dirty="0">
                          <a:solidFill>
                            <a:schemeClr val="tx1"/>
                          </a:solidFill>
                          <a:effectLst/>
                          <a:latin typeface="Calisto MT" panose="02040603050505030304" pitchFamily="18" charset="0"/>
                        </a:rPr>
                        <a:t>Jinnah Garden Islamabad</a:t>
                      </a:r>
                    </a:p>
                  </a:txBody>
                  <a:tcPr anchor="ctr"/>
                </a:tc>
                <a:tc>
                  <a:txBody>
                    <a:bodyPr/>
                    <a:lstStyle/>
                    <a:p>
                      <a:pPr algn="ctr">
                        <a:buNone/>
                      </a:pPr>
                      <a:r>
                        <a:rPr lang="en-US" sz="800" dirty="0">
                          <a:solidFill>
                            <a:schemeClr val="tx1"/>
                          </a:solidFill>
                          <a:effectLst/>
                          <a:latin typeface="Calisto MT" panose="02040603050505030304" pitchFamily="18" charset="0"/>
                        </a:rPr>
                        <a:t>10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solidFill>
                            <a:schemeClr val="tx1"/>
                          </a:solidFill>
                          <a:effectLst/>
                          <a:latin typeface="Calisto MT" panose="02040603050505030304" pitchFamily="18" charset="0"/>
                        </a:rPr>
                        <a:t>10 Million</a:t>
                      </a:r>
                    </a:p>
                  </a:txBody>
                  <a:tcPr anchor="ctr"/>
                </a:tc>
                <a:extLst>
                  <a:ext uri="{0D108BD9-81ED-4DB2-BD59-A6C34878D82A}">
                    <a16:rowId xmlns:a16="http://schemas.microsoft.com/office/drawing/2014/main" val="1930438177"/>
                  </a:ext>
                </a:extLst>
              </a:tr>
            </a:tbl>
          </a:graphicData>
        </a:graphic>
      </p:graphicFrame>
      <p:sp>
        <p:nvSpPr>
          <p:cNvPr id="3" name="Rectangle 1">
            <a:extLst>
              <a:ext uri="{FF2B5EF4-FFF2-40B4-BE49-F238E27FC236}">
                <a16:creationId xmlns:a16="http://schemas.microsoft.com/office/drawing/2014/main" id="{91E88E89-A499-2344-4DCD-47B8B7D09DC4}"/>
              </a:ext>
            </a:extLst>
          </p:cNvPr>
          <p:cNvSpPr/>
          <p:nvPr/>
        </p:nvSpPr>
        <p:spPr>
          <a:xfrm>
            <a:off x="8183877" y="0"/>
            <a:ext cx="960122" cy="514350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831096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837400" y="425625"/>
            <a:ext cx="5469200" cy="32928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Commercial Project</a:t>
            </a:r>
          </a:p>
        </p:txBody>
      </p:sp>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2424060" y="790445"/>
            <a:ext cx="4444736" cy="4322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BERG-1 BUSNIESS SQUARE, GULBERG GREENS, ISLAMABAD</a:t>
            </a:r>
          </a:p>
        </p:txBody>
      </p:sp>
      <p:sp>
        <p:nvSpPr>
          <p:cNvPr id="11" name="Rectangle 1">
            <a:extLst>
              <a:ext uri="{FF2B5EF4-FFF2-40B4-BE49-F238E27FC236}">
                <a16:creationId xmlns:a16="http://schemas.microsoft.com/office/drawing/2014/main" id="{FDDABC14-6D5F-4DF9-949D-3530D96CD935}"/>
              </a:ext>
            </a:extLst>
          </p:cNvPr>
          <p:cNvSpPr/>
          <p:nvPr/>
        </p:nvSpPr>
        <p:spPr>
          <a:xfrm flipH="1" flipV="1">
            <a:off x="0"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8" name="Picture 7">
            <a:extLst>
              <a:ext uri="{FF2B5EF4-FFF2-40B4-BE49-F238E27FC236}">
                <a16:creationId xmlns:a16="http://schemas.microsoft.com/office/drawing/2014/main" id="{3743D311-C842-401F-838A-FDB2C3BD07E9}"/>
              </a:ext>
            </a:extLst>
          </p:cNvPr>
          <p:cNvPicPr>
            <a:picLocks noChangeAspect="1"/>
          </p:cNvPicPr>
          <p:nvPr/>
        </p:nvPicPr>
        <p:blipFill>
          <a:blip r:embed="rId3"/>
          <a:stretch>
            <a:fillRect/>
          </a:stretch>
        </p:blipFill>
        <p:spPr>
          <a:xfrm>
            <a:off x="7887489" y="205228"/>
            <a:ext cx="960122" cy="1170434"/>
          </a:xfrm>
          <a:prstGeom prst="rect">
            <a:avLst/>
          </a:prstGeom>
        </p:spPr>
      </p:pic>
      <p:pic>
        <p:nvPicPr>
          <p:cNvPr id="2" name="Picture 1">
            <a:extLst>
              <a:ext uri="{FF2B5EF4-FFF2-40B4-BE49-F238E27FC236}">
                <a16:creationId xmlns:a16="http://schemas.microsoft.com/office/drawing/2014/main" id="{59FED53B-2D38-1452-66CE-7A6F1EB817EB}"/>
              </a:ext>
            </a:extLst>
          </p:cNvPr>
          <p:cNvPicPr>
            <a:picLocks noChangeAspect="1"/>
          </p:cNvPicPr>
          <p:nvPr/>
        </p:nvPicPr>
        <p:blipFill rotWithShape="1">
          <a:blip r:embed="rId4"/>
          <a:srcRect l="17746" r="26985" b="12239"/>
          <a:stretch/>
        </p:blipFill>
        <p:spPr>
          <a:xfrm>
            <a:off x="1268692" y="1375662"/>
            <a:ext cx="3377736" cy="3731541"/>
          </a:xfrm>
          <a:prstGeom prst="rect">
            <a:avLst/>
          </a:prstGeom>
        </p:spPr>
      </p:pic>
      <p:pic>
        <p:nvPicPr>
          <p:cNvPr id="3" name="object 16">
            <a:extLst>
              <a:ext uri="{FF2B5EF4-FFF2-40B4-BE49-F238E27FC236}">
                <a16:creationId xmlns:a16="http://schemas.microsoft.com/office/drawing/2014/main" id="{82AAA059-8A6D-9695-4351-68F693848261}"/>
              </a:ext>
            </a:extLst>
          </p:cNvPr>
          <p:cNvPicPr/>
          <p:nvPr/>
        </p:nvPicPr>
        <p:blipFill>
          <a:blip r:embed="rId5" cstate="print"/>
          <a:srcRect l="2722" t="16716" r="12128" b="5725"/>
          <a:stretch>
            <a:fillRect/>
          </a:stretch>
        </p:blipFill>
        <p:spPr>
          <a:xfrm>
            <a:off x="4820931" y="1375662"/>
            <a:ext cx="2653758" cy="1803473"/>
          </a:xfrm>
          <a:prstGeom prst="rect">
            <a:avLst/>
          </a:prstGeom>
        </p:spPr>
      </p:pic>
      <p:pic>
        <p:nvPicPr>
          <p:cNvPr id="4" name="object 15">
            <a:extLst>
              <a:ext uri="{FF2B5EF4-FFF2-40B4-BE49-F238E27FC236}">
                <a16:creationId xmlns:a16="http://schemas.microsoft.com/office/drawing/2014/main" id="{7FA07B73-4C10-D9F1-F8D4-24376A7CFEB0}"/>
              </a:ext>
            </a:extLst>
          </p:cNvPr>
          <p:cNvPicPr/>
          <p:nvPr/>
        </p:nvPicPr>
        <p:blipFill>
          <a:blip r:embed="rId6" cstate="print"/>
          <a:stretch>
            <a:fillRect/>
          </a:stretch>
        </p:blipFill>
        <p:spPr>
          <a:xfrm>
            <a:off x="5848918" y="3241432"/>
            <a:ext cx="2752821" cy="1803473"/>
          </a:xfrm>
          <a:prstGeom prst="rect">
            <a:avLst/>
          </a:prstGeom>
        </p:spPr>
      </p:pic>
    </p:spTree>
    <p:extLst>
      <p:ext uri="{BB962C8B-B14F-4D97-AF65-F5344CB8AC3E}">
        <p14:creationId xmlns:p14="http://schemas.microsoft.com/office/powerpoint/2010/main" val="2292042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837400" y="425626"/>
            <a:ext cx="5469200" cy="43652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Commercial Project</a:t>
            </a:r>
          </a:p>
        </p:txBody>
      </p:sp>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2349632" y="790446"/>
            <a:ext cx="4444736" cy="2632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HILLS ONE, BAHRIA ENCLAVE, ISLAMABAD</a:t>
            </a:r>
          </a:p>
        </p:txBody>
      </p:sp>
      <p:sp>
        <p:nvSpPr>
          <p:cNvPr id="6" name="Rectangle 1">
            <a:extLst>
              <a:ext uri="{FF2B5EF4-FFF2-40B4-BE49-F238E27FC236}">
                <a16:creationId xmlns:a16="http://schemas.microsoft.com/office/drawing/2014/main" id="{1A701F15-4203-49FF-9715-B464C97C9414}"/>
              </a:ext>
            </a:extLst>
          </p:cNvPr>
          <p:cNvSpPr/>
          <p:nvPr/>
        </p:nvSpPr>
        <p:spPr>
          <a:xfrm flipH="1" flipV="1">
            <a:off x="0"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8" name="Picture 7">
            <a:extLst>
              <a:ext uri="{FF2B5EF4-FFF2-40B4-BE49-F238E27FC236}">
                <a16:creationId xmlns:a16="http://schemas.microsoft.com/office/drawing/2014/main" id="{0953C4DA-E247-41A8-B139-CF3497B16AC9}"/>
              </a:ext>
            </a:extLst>
          </p:cNvPr>
          <p:cNvPicPr>
            <a:picLocks noChangeAspect="1"/>
          </p:cNvPicPr>
          <p:nvPr/>
        </p:nvPicPr>
        <p:blipFill>
          <a:blip r:embed="rId3"/>
          <a:stretch>
            <a:fillRect/>
          </a:stretch>
        </p:blipFill>
        <p:spPr>
          <a:xfrm>
            <a:off x="7887489" y="205228"/>
            <a:ext cx="960122" cy="1170434"/>
          </a:xfrm>
          <a:prstGeom prst="rect">
            <a:avLst/>
          </a:prstGeom>
        </p:spPr>
      </p:pic>
      <p:pic>
        <p:nvPicPr>
          <p:cNvPr id="2" name="object 11">
            <a:extLst>
              <a:ext uri="{FF2B5EF4-FFF2-40B4-BE49-F238E27FC236}">
                <a16:creationId xmlns:a16="http://schemas.microsoft.com/office/drawing/2014/main" id="{0C8BCF29-185C-E05C-C9F0-8E14B9AF0E4D}"/>
              </a:ext>
            </a:extLst>
          </p:cNvPr>
          <p:cNvPicPr/>
          <p:nvPr/>
        </p:nvPicPr>
        <p:blipFill>
          <a:blip r:embed="rId4" cstate="print"/>
          <a:stretch>
            <a:fillRect/>
          </a:stretch>
        </p:blipFill>
        <p:spPr>
          <a:xfrm>
            <a:off x="1284507" y="1226970"/>
            <a:ext cx="3405160" cy="3793311"/>
          </a:xfrm>
          <a:prstGeom prst="rect">
            <a:avLst/>
          </a:prstGeom>
        </p:spPr>
      </p:pic>
      <p:pic>
        <p:nvPicPr>
          <p:cNvPr id="4" name="object 13">
            <a:extLst>
              <a:ext uri="{FF2B5EF4-FFF2-40B4-BE49-F238E27FC236}">
                <a16:creationId xmlns:a16="http://schemas.microsoft.com/office/drawing/2014/main" id="{DD521870-FFF8-2DC6-36D0-19C960C3F374}"/>
              </a:ext>
            </a:extLst>
          </p:cNvPr>
          <p:cNvPicPr/>
          <p:nvPr/>
        </p:nvPicPr>
        <p:blipFill>
          <a:blip r:embed="rId5" cstate="print"/>
          <a:stretch>
            <a:fillRect/>
          </a:stretch>
        </p:blipFill>
        <p:spPr>
          <a:xfrm>
            <a:off x="4986669" y="1226970"/>
            <a:ext cx="2232838" cy="1728881"/>
          </a:xfrm>
          <a:prstGeom prst="rect">
            <a:avLst/>
          </a:prstGeom>
        </p:spPr>
      </p:pic>
      <p:pic>
        <p:nvPicPr>
          <p:cNvPr id="7" name="object 13">
            <a:extLst>
              <a:ext uri="{FF2B5EF4-FFF2-40B4-BE49-F238E27FC236}">
                <a16:creationId xmlns:a16="http://schemas.microsoft.com/office/drawing/2014/main" id="{4EE31FB1-2763-63C2-42C9-39A7AEA2D864}"/>
              </a:ext>
            </a:extLst>
          </p:cNvPr>
          <p:cNvPicPr/>
          <p:nvPr/>
        </p:nvPicPr>
        <p:blipFill>
          <a:blip r:embed="rId6" cstate="print"/>
          <a:stretch>
            <a:fillRect/>
          </a:stretch>
        </p:blipFill>
        <p:spPr>
          <a:xfrm>
            <a:off x="6453963" y="3129082"/>
            <a:ext cx="2393648" cy="1945871"/>
          </a:xfrm>
          <a:prstGeom prst="rect">
            <a:avLst/>
          </a:prstGeom>
        </p:spPr>
      </p:pic>
    </p:spTree>
    <p:extLst>
      <p:ext uri="{BB962C8B-B14F-4D97-AF65-F5344CB8AC3E}">
        <p14:creationId xmlns:p14="http://schemas.microsoft.com/office/powerpoint/2010/main" val="96310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31"/>
          <p:cNvSpPr txBox="1">
            <a:spLocks noGrp="1"/>
          </p:cNvSpPr>
          <p:nvPr>
            <p:ph type="ctrTitle"/>
          </p:nvPr>
        </p:nvSpPr>
        <p:spPr>
          <a:xfrm>
            <a:off x="1837399" y="294086"/>
            <a:ext cx="5469200" cy="44247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Commercial Project</a:t>
            </a:r>
          </a:p>
        </p:txBody>
      </p:sp>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1368638" y="727938"/>
            <a:ext cx="6406721" cy="3356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DAMCON TOWER, CIVIC CENTER, GULBERG GREENS, ISLAMABAD</a:t>
            </a:r>
          </a:p>
        </p:txBody>
      </p:sp>
      <p:sp>
        <p:nvSpPr>
          <p:cNvPr id="6" name="Rectangle 1">
            <a:extLst>
              <a:ext uri="{FF2B5EF4-FFF2-40B4-BE49-F238E27FC236}">
                <a16:creationId xmlns:a16="http://schemas.microsoft.com/office/drawing/2014/main" id="{7C3CB6B0-A983-48CB-8EF7-088010BCF460}"/>
              </a:ext>
            </a:extLst>
          </p:cNvPr>
          <p:cNvSpPr/>
          <p:nvPr/>
        </p:nvSpPr>
        <p:spPr>
          <a:xfrm flipH="1" flipV="1">
            <a:off x="0"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8" name="Picture 7">
            <a:extLst>
              <a:ext uri="{FF2B5EF4-FFF2-40B4-BE49-F238E27FC236}">
                <a16:creationId xmlns:a16="http://schemas.microsoft.com/office/drawing/2014/main" id="{4BFC9E5E-3584-4BC8-985D-42E6D0085F60}"/>
              </a:ext>
            </a:extLst>
          </p:cNvPr>
          <p:cNvPicPr>
            <a:picLocks noChangeAspect="1"/>
          </p:cNvPicPr>
          <p:nvPr/>
        </p:nvPicPr>
        <p:blipFill>
          <a:blip r:embed="rId3"/>
          <a:stretch>
            <a:fillRect/>
          </a:stretch>
        </p:blipFill>
        <p:spPr>
          <a:xfrm>
            <a:off x="7887489" y="205228"/>
            <a:ext cx="960122" cy="1170434"/>
          </a:xfrm>
          <a:prstGeom prst="rect">
            <a:avLst/>
          </a:prstGeom>
        </p:spPr>
      </p:pic>
      <p:grpSp>
        <p:nvGrpSpPr>
          <p:cNvPr id="2" name="object 8">
            <a:extLst>
              <a:ext uri="{FF2B5EF4-FFF2-40B4-BE49-F238E27FC236}">
                <a16:creationId xmlns:a16="http://schemas.microsoft.com/office/drawing/2014/main" id="{7CC0A213-8163-8E21-20AC-64DE369349BD}"/>
              </a:ext>
            </a:extLst>
          </p:cNvPr>
          <p:cNvGrpSpPr/>
          <p:nvPr/>
        </p:nvGrpSpPr>
        <p:grpSpPr>
          <a:xfrm>
            <a:off x="379" y="1310578"/>
            <a:ext cx="10058400" cy="6355903"/>
            <a:chOff x="379" y="1310578"/>
            <a:chExt cx="10058400" cy="6355903"/>
          </a:xfrm>
        </p:grpSpPr>
        <p:sp>
          <p:nvSpPr>
            <p:cNvPr id="4" name="object 10">
              <a:extLst>
                <a:ext uri="{FF2B5EF4-FFF2-40B4-BE49-F238E27FC236}">
                  <a16:creationId xmlns:a16="http://schemas.microsoft.com/office/drawing/2014/main" id="{7325C622-1DF1-9088-338C-D76B8149521A}"/>
                </a:ext>
              </a:extLst>
            </p:cNvPr>
            <p:cNvSpPr/>
            <p:nvPr/>
          </p:nvSpPr>
          <p:spPr>
            <a:xfrm>
              <a:off x="379" y="7228331"/>
              <a:ext cx="10058400" cy="438150"/>
            </a:xfrm>
            <a:custGeom>
              <a:avLst/>
              <a:gdLst/>
              <a:ahLst/>
              <a:cxnLst/>
              <a:rect l="l" t="t" r="r" b="b"/>
              <a:pathLst>
                <a:path w="10058400" h="438150">
                  <a:moveTo>
                    <a:pt x="10058020" y="0"/>
                  </a:moveTo>
                  <a:lnTo>
                    <a:pt x="0" y="0"/>
                  </a:lnTo>
                  <a:lnTo>
                    <a:pt x="0" y="437956"/>
                  </a:lnTo>
                  <a:lnTo>
                    <a:pt x="10058020" y="437956"/>
                  </a:lnTo>
                  <a:lnTo>
                    <a:pt x="10058020" y="0"/>
                  </a:lnTo>
                  <a:close/>
                </a:path>
              </a:pathLst>
            </a:custGeom>
            <a:solidFill>
              <a:srgbClr val="E36C09"/>
            </a:solidFill>
          </p:spPr>
          <p:txBody>
            <a:bodyPr wrap="square" lIns="0" tIns="0" rIns="0" bIns="0" rtlCol="0"/>
            <a:lstStyle/>
            <a:p>
              <a:endParaRPr/>
            </a:p>
          </p:txBody>
        </p:sp>
        <p:pic>
          <p:nvPicPr>
            <p:cNvPr id="7" name="object 12">
              <a:extLst>
                <a:ext uri="{FF2B5EF4-FFF2-40B4-BE49-F238E27FC236}">
                  <a16:creationId xmlns:a16="http://schemas.microsoft.com/office/drawing/2014/main" id="{2E10EF7E-AD5E-7870-C52C-8E9B27662A3E}"/>
                </a:ext>
              </a:extLst>
            </p:cNvPr>
            <p:cNvPicPr/>
            <p:nvPr/>
          </p:nvPicPr>
          <p:blipFill>
            <a:blip r:embed="rId4" cstate="print"/>
            <a:srcRect l="15486" t="1346" r="15513"/>
            <a:stretch>
              <a:fillRect/>
            </a:stretch>
          </p:blipFill>
          <p:spPr>
            <a:xfrm>
              <a:off x="3240911" y="1310578"/>
              <a:ext cx="3113589" cy="3771885"/>
            </a:xfrm>
            <a:prstGeom prst="rect">
              <a:avLst/>
            </a:prstGeom>
          </p:spPr>
        </p:pic>
      </p:grpSp>
    </p:spTree>
    <p:extLst>
      <p:ext uri="{BB962C8B-B14F-4D97-AF65-F5344CB8AC3E}">
        <p14:creationId xmlns:p14="http://schemas.microsoft.com/office/powerpoint/2010/main" val="2328025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7AD5F69F-4280-7C0A-EFAF-F3EE7DB0B8A0}"/>
            </a:ext>
          </a:extLst>
        </p:cNvPr>
        <p:cNvGrpSpPr/>
        <p:nvPr/>
      </p:nvGrpSpPr>
      <p:grpSpPr>
        <a:xfrm>
          <a:off x="0" y="0"/>
          <a:ext cx="0" cy="0"/>
          <a:chOff x="0" y="0"/>
          <a:chExt cx="0" cy="0"/>
        </a:xfrm>
      </p:grpSpPr>
      <p:sp>
        <p:nvSpPr>
          <p:cNvPr id="158" name="Google Shape;158;p31">
            <a:extLst>
              <a:ext uri="{FF2B5EF4-FFF2-40B4-BE49-F238E27FC236}">
                <a16:creationId xmlns:a16="http://schemas.microsoft.com/office/drawing/2014/main" id="{A35070E3-B4E6-215D-7717-CED87A80664E}"/>
              </a:ext>
            </a:extLst>
          </p:cNvPr>
          <p:cNvSpPr txBox="1">
            <a:spLocks noGrp="1"/>
          </p:cNvSpPr>
          <p:nvPr>
            <p:ph type="ctrTitle"/>
          </p:nvPr>
        </p:nvSpPr>
        <p:spPr>
          <a:xfrm>
            <a:off x="1837400" y="425626"/>
            <a:ext cx="5469200" cy="24228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Commercial Project</a:t>
            </a:r>
          </a:p>
        </p:txBody>
      </p:sp>
      <p:sp>
        <p:nvSpPr>
          <p:cNvPr id="25" name="Google Shape;158;p31">
            <a:extLst>
              <a:ext uri="{FF2B5EF4-FFF2-40B4-BE49-F238E27FC236}">
                <a16:creationId xmlns:a16="http://schemas.microsoft.com/office/drawing/2014/main" id="{3356D7DC-8EF0-EA56-4782-CEB174929CB8}"/>
              </a:ext>
            </a:extLst>
          </p:cNvPr>
          <p:cNvSpPr txBox="1">
            <a:spLocks/>
          </p:cNvSpPr>
          <p:nvPr/>
        </p:nvSpPr>
        <p:spPr>
          <a:xfrm>
            <a:off x="1368639" y="790445"/>
            <a:ext cx="6406721" cy="3356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DAMCON TOWER, CIVIC CENTER, GULBERG GREENS, ISLAMABAD</a:t>
            </a:r>
          </a:p>
        </p:txBody>
      </p:sp>
      <p:sp>
        <p:nvSpPr>
          <p:cNvPr id="6" name="Rectangle 1">
            <a:extLst>
              <a:ext uri="{FF2B5EF4-FFF2-40B4-BE49-F238E27FC236}">
                <a16:creationId xmlns:a16="http://schemas.microsoft.com/office/drawing/2014/main" id="{913277BB-9E43-6378-E8FF-EFBF869F8252}"/>
              </a:ext>
            </a:extLst>
          </p:cNvPr>
          <p:cNvSpPr/>
          <p:nvPr/>
        </p:nvSpPr>
        <p:spPr>
          <a:xfrm flipH="1" flipV="1">
            <a:off x="0"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8" name="Picture 7">
            <a:extLst>
              <a:ext uri="{FF2B5EF4-FFF2-40B4-BE49-F238E27FC236}">
                <a16:creationId xmlns:a16="http://schemas.microsoft.com/office/drawing/2014/main" id="{0F3C1F9B-06B6-C7A3-804A-AA48AF975E22}"/>
              </a:ext>
            </a:extLst>
          </p:cNvPr>
          <p:cNvPicPr>
            <a:picLocks noChangeAspect="1"/>
          </p:cNvPicPr>
          <p:nvPr/>
        </p:nvPicPr>
        <p:blipFill>
          <a:blip r:embed="rId3"/>
          <a:stretch>
            <a:fillRect/>
          </a:stretch>
        </p:blipFill>
        <p:spPr>
          <a:xfrm>
            <a:off x="7887489" y="205228"/>
            <a:ext cx="960122" cy="1170434"/>
          </a:xfrm>
          <a:prstGeom prst="rect">
            <a:avLst/>
          </a:prstGeom>
        </p:spPr>
      </p:pic>
      <p:pic>
        <p:nvPicPr>
          <p:cNvPr id="9" name="object 12">
            <a:extLst>
              <a:ext uri="{FF2B5EF4-FFF2-40B4-BE49-F238E27FC236}">
                <a16:creationId xmlns:a16="http://schemas.microsoft.com/office/drawing/2014/main" id="{4B761A92-0800-7D38-1811-70BA11C34320}"/>
              </a:ext>
            </a:extLst>
          </p:cNvPr>
          <p:cNvPicPr/>
          <p:nvPr/>
        </p:nvPicPr>
        <p:blipFill>
          <a:blip r:embed="rId4" cstate="print"/>
          <a:stretch>
            <a:fillRect/>
          </a:stretch>
        </p:blipFill>
        <p:spPr>
          <a:xfrm>
            <a:off x="1256510" y="1126110"/>
            <a:ext cx="1933257" cy="1872271"/>
          </a:xfrm>
          <a:prstGeom prst="rect">
            <a:avLst/>
          </a:prstGeom>
        </p:spPr>
      </p:pic>
      <p:pic>
        <p:nvPicPr>
          <p:cNvPr id="10" name="object 13">
            <a:extLst>
              <a:ext uri="{FF2B5EF4-FFF2-40B4-BE49-F238E27FC236}">
                <a16:creationId xmlns:a16="http://schemas.microsoft.com/office/drawing/2014/main" id="{A2D017BF-E74E-0753-A876-1D074B9BDEEE}"/>
              </a:ext>
            </a:extLst>
          </p:cNvPr>
          <p:cNvPicPr/>
          <p:nvPr/>
        </p:nvPicPr>
        <p:blipFill>
          <a:blip r:embed="rId5" cstate="print"/>
          <a:stretch>
            <a:fillRect/>
          </a:stretch>
        </p:blipFill>
        <p:spPr>
          <a:xfrm>
            <a:off x="4710224" y="1498197"/>
            <a:ext cx="4137388" cy="3520370"/>
          </a:xfrm>
          <a:prstGeom prst="rect">
            <a:avLst/>
          </a:prstGeom>
        </p:spPr>
      </p:pic>
      <p:pic>
        <p:nvPicPr>
          <p:cNvPr id="11" name="object 13">
            <a:extLst>
              <a:ext uri="{FF2B5EF4-FFF2-40B4-BE49-F238E27FC236}">
                <a16:creationId xmlns:a16="http://schemas.microsoft.com/office/drawing/2014/main" id="{D8CCC012-E3E6-C3B1-EACF-A664C6CBB851}"/>
              </a:ext>
            </a:extLst>
          </p:cNvPr>
          <p:cNvPicPr/>
          <p:nvPr/>
        </p:nvPicPr>
        <p:blipFill>
          <a:blip r:embed="rId6" cstate="print"/>
          <a:stretch>
            <a:fillRect/>
          </a:stretch>
        </p:blipFill>
        <p:spPr>
          <a:xfrm>
            <a:off x="2424223" y="3146295"/>
            <a:ext cx="2009554" cy="1872272"/>
          </a:xfrm>
          <a:prstGeom prst="rect">
            <a:avLst/>
          </a:prstGeom>
        </p:spPr>
      </p:pic>
    </p:spTree>
    <p:extLst>
      <p:ext uri="{BB962C8B-B14F-4D97-AF65-F5344CB8AC3E}">
        <p14:creationId xmlns:p14="http://schemas.microsoft.com/office/powerpoint/2010/main" val="247558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2349632" y="753736"/>
            <a:ext cx="4444736" cy="39574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C-170, GULBERG GREENS (05 KANAL)</a:t>
            </a:r>
          </a:p>
        </p:txBody>
      </p:sp>
      <p:sp>
        <p:nvSpPr>
          <p:cNvPr id="158" name="Google Shape;158;p31"/>
          <p:cNvSpPr txBox="1">
            <a:spLocks noGrp="1"/>
          </p:cNvSpPr>
          <p:nvPr>
            <p:ph type="ctrTitle"/>
          </p:nvPr>
        </p:nvSpPr>
        <p:spPr>
          <a:xfrm>
            <a:off x="1837400" y="425626"/>
            <a:ext cx="5469200" cy="3957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FARMHOUSE Project</a:t>
            </a:r>
          </a:p>
        </p:txBody>
      </p:sp>
      <p:sp>
        <p:nvSpPr>
          <p:cNvPr id="8" name="Rectangle 1">
            <a:extLst>
              <a:ext uri="{FF2B5EF4-FFF2-40B4-BE49-F238E27FC236}">
                <a16:creationId xmlns:a16="http://schemas.microsoft.com/office/drawing/2014/main" id="{1A5D153F-8299-48CC-9EC8-1F7631A863BB}"/>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7" name="Picture 6">
            <a:extLst>
              <a:ext uri="{FF2B5EF4-FFF2-40B4-BE49-F238E27FC236}">
                <a16:creationId xmlns:a16="http://schemas.microsoft.com/office/drawing/2014/main" id="{CA284D15-CD35-4ACE-A52D-CBFA656585BD}"/>
              </a:ext>
            </a:extLst>
          </p:cNvPr>
          <p:cNvPicPr>
            <a:picLocks noChangeAspect="1"/>
          </p:cNvPicPr>
          <p:nvPr/>
        </p:nvPicPr>
        <p:blipFill>
          <a:blip r:embed="rId3"/>
          <a:stretch>
            <a:fillRect/>
          </a:stretch>
        </p:blipFill>
        <p:spPr>
          <a:xfrm>
            <a:off x="279085" y="205228"/>
            <a:ext cx="960122" cy="1170434"/>
          </a:xfrm>
          <a:prstGeom prst="rect">
            <a:avLst/>
          </a:prstGeom>
        </p:spPr>
      </p:pic>
      <p:pic>
        <p:nvPicPr>
          <p:cNvPr id="3" name="Picture 2">
            <a:extLst>
              <a:ext uri="{FF2B5EF4-FFF2-40B4-BE49-F238E27FC236}">
                <a16:creationId xmlns:a16="http://schemas.microsoft.com/office/drawing/2014/main" id="{F8E4B1CC-4594-BC0C-D5FE-967506C2B26C}"/>
              </a:ext>
            </a:extLst>
          </p:cNvPr>
          <p:cNvPicPr>
            <a:picLocks noChangeAspect="1"/>
          </p:cNvPicPr>
          <p:nvPr/>
        </p:nvPicPr>
        <p:blipFill>
          <a:blip r:embed="rId4"/>
          <a:stretch>
            <a:fillRect/>
          </a:stretch>
        </p:blipFill>
        <p:spPr>
          <a:xfrm>
            <a:off x="2034933" y="1160651"/>
            <a:ext cx="5372864" cy="3867102"/>
          </a:xfrm>
          <a:prstGeom prst="rect">
            <a:avLst/>
          </a:prstGeom>
        </p:spPr>
      </p:pic>
    </p:spTree>
    <p:extLst>
      <p:ext uri="{BB962C8B-B14F-4D97-AF65-F5344CB8AC3E}">
        <p14:creationId xmlns:p14="http://schemas.microsoft.com/office/powerpoint/2010/main" val="1244394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1125AA1C-42A6-E62D-5157-9968D5D757F1}"/>
            </a:ext>
          </a:extLst>
        </p:cNvPr>
        <p:cNvGrpSpPr/>
        <p:nvPr/>
      </p:nvGrpSpPr>
      <p:grpSpPr>
        <a:xfrm>
          <a:off x="0" y="0"/>
          <a:ext cx="0" cy="0"/>
          <a:chOff x="0" y="0"/>
          <a:chExt cx="0" cy="0"/>
        </a:xfrm>
      </p:grpSpPr>
      <p:sp>
        <p:nvSpPr>
          <p:cNvPr id="25" name="Google Shape;158;p31">
            <a:extLst>
              <a:ext uri="{FF2B5EF4-FFF2-40B4-BE49-F238E27FC236}">
                <a16:creationId xmlns:a16="http://schemas.microsoft.com/office/drawing/2014/main" id="{A1AE588D-EBD5-8BC5-80A9-98095E317690}"/>
              </a:ext>
            </a:extLst>
          </p:cNvPr>
          <p:cNvSpPr txBox="1">
            <a:spLocks/>
          </p:cNvSpPr>
          <p:nvPr/>
        </p:nvSpPr>
        <p:spPr>
          <a:xfrm>
            <a:off x="2349631" y="821368"/>
            <a:ext cx="4444736" cy="25813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C-170, GULBERG GREENS (05 KANAL)</a:t>
            </a:r>
          </a:p>
        </p:txBody>
      </p:sp>
      <p:sp>
        <p:nvSpPr>
          <p:cNvPr id="158" name="Google Shape;158;p31">
            <a:extLst>
              <a:ext uri="{FF2B5EF4-FFF2-40B4-BE49-F238E27FC236}">
                <a16:creationId xmlns:a16="http://schemas.microsoft.com/office/drawing/2014/main" id="{647E421B-6F8E-7561-349B-1F9C624886A3}"/>
              </a:ext>
            </a:extLst>
          </p:cNvPr>
          <p:cNvSpPr txBox="1">
            <a:spLocks noGrp="1"/>
          </p:cNvSpPr>
          <p:nvPr>
            <p:ph type="ctrTitle"/>
          </p:nvPr>
        </p:nvSpPr>
        <p:spPr>
          <a:xfrm>
            <a:off x="1837400" y="425626"/>
            <a:ext cx="5469200" cy="3957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FARMHOUSE Project</a:t>
            </a:r>
          </a:p>
        </p:txBody>
      </p:sp>
      <p:sp>
        <p:nvSpPr>
          <p:cNvPr id="8" name="Rectangle 1">
            <a:extLst>
              <a:ext uri="{FF2B5EF4-FFF2-40B4-BE49-F238E27FC236}">
                <a16:creationId xmlns:a16="http://schemas.microsoft.com/office/drawing/2014/main" id="{F27F4119-0538-27B3-1880-C5B2B6ED1ACD}"/>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7" name="Picture 6">
            <a:extLst>
              <a:ext uri="{FF2B5EF4-FFF2-40B4-BE49-F238E27FC236}">
                <a16:creationId xmlns:a16="http://schemas.microsoft.com/office/drawing/2014/main" id="{D43289F9-11EF-B25A-C172-2C66F1A63AA4}"/>
              </a:ext>
            </a:extLst>
          </p:cNvPr>
          <p:cNvPicPr>
            <a:picLocks noChangeAspect="1"/>
          </p:cNvPicPr>
          <p:nvPr/>
        </p:nvPicPr>
        <p:blipFill>
          <a:blip r:embed="rId3"/>
          <a:stretch>
            <a:fillRect/>
          </a:stretch>
        </p:blipFill>
        <p:spPr>
          <a:xfrm>
            <a:off x="279085" y="205228"/>
            <a:ext cx="960122" cy="1170434"/>
          </a:xfrm>
          <a:prstGeom prst="rect">
            <a:avLst/>
          </a:prstGeom>
        </p:spPr>
      </p:pic>
      <p:pic>
        <p:nvPicPr>
          <p:cNvPr id="4" name="Picture 3">
            <a:extLst>
              <a:ext uri="{FF2B5EF4-FFF2-40B4-BE49-F238E27FC236}">
                <a16:creationId xmlns:a16="http://schemas.microsoft.com/office/drawing/2014/main" id="{44DFE538-4D0B-9ADE-6E7F-BCD3CF52AD5A}"/>
              </a:ext>
            </a:extLst>
          </p:cNvPr>
          <p:cNvPicPr>
            <a:picLocks noChangeAspect="1"/>
          </p:cNvPicPr>
          <p:nvPr/>
        </p:nvPicPr>
        <p:blipFill>
          <a:blip r:embed="rId4"/>
          <a:stretch>
            <a:fillRect/>
          </a:stretch>
        </p:blipFill>
        <p:spPr>
          <a:xfrm>
            <a:off x="408614" y="1457170"/>
            <a:ext cx="4375598" cy="3550496"/>
          </a:xfrm>
          <a:prstGeom prst="rect">
            <a:avLst/>
          </a:prstGeom>
        </p:spPr>
      </p:pic>
      <p:pic>
        <p:nvPicPr>
          <p:cNvPr id="6" name="object 12">
            <a:extLst>
              <a:ext uri="{FF2B5EF4-FFF2-40B4-BE49-F238E27FC236}">
                <a16:creationId xmlns:a16="http://schemas.microsoft.com/office/drawing/2014/main" id="{617F5534-C832-B47D-41D3-F27ECEEEDC97}"/>
              </a:ext>
            </a:extLst>
          </p:cNvPr>
          <p:cNvPicPr/>
          <p:nvPr/>
        </p:nvPicPr>
        <p:blipFill>
          <a:blip r:embed="rId5" cstate="print"/>
          <a:stretch>
            <a:fillRect/>
          </a:stretch>
        </p:blipFill>
        <p:spPr>
          <a:xfrm>
            <a:off x="4935071" y="1436175"/>
            <a:ext cx="2760938" cy="1695449"/>
          </a:xfrm>
          <a:prstGeom prst="rect">
            <a:avLst/>
          </a:prstGeom>
        </p:spPr>
      </p:pic>
      <p:pic>
        <p:nvPicPr>
          <p:cNvPr id="11" name="object 6">
            <a:extLst>
              <a:ext uri="{FF2B5EF4-FFF2-40B4-BE49-F238E27FC236}">
                <a16:creationId xmlns:a16="http://schemas.microsoft.com/office/drawing/2014/main" id="{7126EB83-2DA4-4E30-4A5B-E433D511B036}"/>
              </a:ext>
            </a:extLst>
          </p:cNvPr>
          <p:cNvPicPr/>
          <p:nvPr/>
        </p:nvPicPr>
        <p:blipFill>
          <a:blip r:embed="rId6" cstate="print"/>
          <a:stretch>
            <a:fillRect/>
          </a:stretch>
        </p:blipFill>
        <p:spPr>
          <a:xfrm>
            <a:off x="4935071" y="3232418"/>
            <a:ext cx="2760938" cy="1796782"/>
          </a:xfrm>
          <a:prstGeom prst="rect">
            <a:avLst/>
          </a:prstGeom>
        </p:spPr>
      </p:pic>
    </p:spTree>
    <p:extLst>
      <p:ext uri="{BB962C8B-B14F-4D97-AF65-F5344CB8AC3E}">
        <p14:creationId xmlns:p14="http://schemas.microsoft.com/office/powerpoint/2010/main" val="3348871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1987703" y="644312"/>
            <a:ext cx="5718022" cy="3399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C-05 FARM HOUSE ( 10 KANAL ) GULBERG GREEN ISLAMABAD</a:t>
            </a:r>
          </a:p>
        </p:txBody>
      </p:sp>
      <p:sp>
        <p:nvSpPr>
          <p:cNvPr id="158" name="Google Shape;158;p31"/>
          <p:cNvSpPr txBox="1">
            <a:spLocks noGrp="1"/>
          </p:cNvSpPr>
          <p:nvPr>
            <p:ph type="ctrTitle"/>
          </p:nvPr>
        </p:nvSpPr>
        <p:spPr>
          <a:xfrm>
            <a:off x="1837400" y="425626"/>
            <a:ext cx="5469200" cy="21868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FARMHOUSE Project</a:t>
            </a:r>
          </a:p>
        </p:txBody>
      </p:sp>
      <p:sp>
        <p:nvSpPr>
          <p:cNvPr id="8" name="Rectangle 1">
            <a:extLst>
              <a:ext uri="{FF2B5EF4-FFF2-40B4-BE49-F238E27FC236}">
                <a16:creationId xmlns:a16="http://schemas.microsoft.com/office/drawing/2014/main" id="{1A5D153F-8299-48CC-9EC8-1F7631A863BB}"/>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10" name="Picture 9">
            <a:extLst>
              <a:ext uri="{FF2B5EF4-FFF2-40B4-BE49-F238E27FC236}">
                <a16:creationId xmlns:a16="http://schemas.microsoft.com/office/drawing/2014/main" id="{DC9F6CD0-E515-4DFD-8943-1B908C6419E6}"/>
              </a:ext>
            </a:extLst>
          </p:cNvPr>
          <p:cNvPicPr>
            <a:picLocks noChangeAspect="1"/>
          </p:cNvPicPr>
          <p:nvPr/>
        </p:nvPicPr>
        <p:blipFill>
          <a:blip r:embed="rId3"/>
          <a:stretch>
            <a:fillRect/>
          </a:stretch>
        </p:blipFill>
        <p:spPr>
          <a:xfrm>
            <a:off x="279085" y="205228"/>
            <a:ext cx="960122" cy="1170434"/>
          </a:xfrm>
          <a:prstGeom prst="rect">
            <a:avLst/>
          </a:prstGeom>
        </p:spPr>
      </p:pic>
      <p:pic>
        <p:nvPicPr>
          <p:cNvPr id="4" name="Picture 3">
            <a:extLst>
              <a:ext uri="{FF2B5EF4-FFF2-40B4-BE49-F238E27FC236}">
                <a16:creationId xmlns:a16="http://schemas.microsoft.com/office/drawing/2014/main" id="{50599ACE-2591-D100-B933-427BDADADC50}"/>
              </a:ext>
            </a:extLst>
          </p:cNvPr>
          <p:cNvPicPr>
            <a:picLocks noChangeAspect="1"/>
          </p:cNvPicPr>
          <p:nvPr/>
        </p:nvPicPr>
        <p:blipFill>
          <a:blip r:embed="rId4"/>
          <a:stretch>
            <a:fillRect/>
          </a:stretch>
        </p:blipFill>
        <p:spPr>
          <a:xfrm>
            <a:off x="496503" y="1463638"/>
            <a:ext cx="7641149" cy="3474634"/>
          </a:xfrm>
          <a:prstGeom prst="rect">
            <a:avLst/>
          </a:prstGeom>
        </p:spPr>
      </p:pic>
    </p:spTree>
    <p:extLst>
      <p:ext uri="{BB962C8B-B14F-4D97-AF65-F5344CB8AC3E}">
        <p14:creationId xmlns:p14="http://schemas.microsoft.com/office/powerpoint/2010/main" val="3575279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25" name="Google Shape;158;p31">
            <a:extLst>
              <a:ext uri="{FF2B5EF4-FFF2-40B4-BE49-F238E27FC236}">
                <a16:creationId xmlns:a16="http://schemas.microsoft.com/office/drawing/2014/main" id="{B47EAAF6-90FA-4A73-9883-2D83CFF1C6BB}"/>
              </a:ext>
            </a:extLst>
          </p:cNvPr>
          <p:cNvSpPr txBox="1">
            <a:spLocks/>
          </p:cNvSpPr>
          <p:nvPr/>
        </p:nvSpPr>
        <p:spPr>
          <a:xfrm>
            <a:off x="2349632" y="790445"/>
            <a:ext cx="4444736" cy="2761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Gulberg Green</a:t>
            </a:r>
          </a:p>
        </p:txBody>
      </p:sp>
      <p:sp>
        <p:nvSpPr>
          <p:cNvPr id="158" name="Google Shape;158;p31"/>
          <p:cNvSpPr txBox="1">
            <a:spLocks noGrp="1"/>
          </p:cNvSpPr>
          <p:nvPr>
            <p:ph type="ctrTitle"/>
          </p:nvPr>
        </p:nvSpPr>
        <p:spPr>
          <a:xfrm>
            <a:off x="1837400" y="425626"/>
            <a:ext cx="5469200" cy="27612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RESIDENTIAL Project</a:t>
            </a:r>
          </a:p>
        </p:txBody>
      </p:sp>
      <p:pic>
        <p:nvPicPr>
          <p:cNvPr id="6" name="Picture 5">
            <a:extLst>
              <a:ext uri="{FF2B5EF4-FFF2-40B4-BE49-F238E27FC236}">
                <a16:creationId xmlns:a16="http://schemas.microsoft.com/office/drawing/2014/main" id="{467B7C61-AA37-478B-9AC3-C49DB519ED41}"/>
              </a:ext>
            </a:extLst>
          </p:cNvPr>
          <p:cNvPicPr>
            <a:picLocks noChangeAspect="1"/>
          </p:cNvPicPr>
          <p:nvPr/>
        </p:nvPicPr>
        <p:blipFill>
          <a:blip r:embed="rId3"/>
          <a:stretch>
            <a:fillRect/>
          </a:stretch>
        </p:blipFill>
        <p:spPr>
          <a:xfrm>
            <a:off x="279085" y="205228"/>
            <a:ext cx="960122" cy="1170434"/>
          </a:xfrm>
          <a:prstGeom prst="rect">
            <a:avLst/>
          </a:prstGeom>
        </p:spPr>
      </p:pic>
      <p:pic>
        <p:nvPicPr>
          <p:cNvPr id="2" name="object 9">
            <a:extLst>
              <a:ext uri="{FF2B5EF4-FFF2-40B4-BE49-F238E27FC236}">
                <a16:creationId xmlns:a16="http://schemas.microsoft.com/office/drawing/2014/main" id="{617BB148-32B0-09F9-F5A1-7D5AEB0B55E3}"/>
              </a:ext>
            </a:extLst>
          </p:cNvPr>
          <p:cNvPicPr/>
          <p:nvPr/>
        </p:nvPicPr>
        <p:blipFill>
          <a:blip r:embed="rId4" cstate="print"/>
          <a:stretch>
            <a:fillRect/>
          </a:stretch>
        </p:blipFill>
        <p:spPr>
          <a:xfrm>
            <a:off x="347300" y="1470532"/>
            <a:ext cx="4596840" cy="3467740"/>
          </a:xfrm>
          <a:prstGeom prst="rect">
            <a:avLst/>
          </a:prstGeom>
        </p:spPr>
      </p:pic>
      <p:pic>
        <p:nvPicPr>
          <p:cNvPr id="4" name="Picture 3">
            <a:extLst>
              <a:ext uri="{FF2B5EF4-FFF2-40B4-BE49-F238E27FC236}">
                <a16:creationId xmlns:a16="http://schemas.microsoft.com/office/drawing/2014/main" id="{EA77AED8-16AF-6160-5E85-19D860E240D6}"/>
              </a:ext>
            </a:extLst>
          </p:cNvPr>
          <p:cNvPicPr>
            <a:picLocks noChangeAspect="1"/>
          </p:cNvPicPr>
          <p:nvPr/>
        </p:nvPicPr>
        <p:blipFill>
          <a:blip r:embed="rId5"/>
          <a:srcRect t="23980" r="664" b="15367"/>
          <a:stretch>
            <a:fillRect/>
          </a:stretch>
        </p:blipFill>
        <p:spPr>
          <a:xfrm>
            <a:off x="5085046" y="1470533"/>
            <a:ext cx="2164056" cy="1761766"/>
          </a:xfrm>
          <a:prstGeom prst="rect">
            <a:avLst/>
          </a:prstGeom>
        </p:spPr>
      </p:pic>
      <p:pic>
        <p:nvPicPr>
          <p:cNvPr id="9" name="object 15">
            <a:extLst>
              <a:ext uri="{FF2B5EF4-FFF2-40B4-BE49-F238E27FC236}">
                <a16:creationId xmlns:a16="http://schemas.microsoft.com/office/drawing/2014/main" id="{310CFAED-0E0E-1787-8FA9-9A6DF4735632}"/>
              </a:ext>
            </a:extLst>
          </p:cNvPr>
          <p:cNvPicPr/>
          <p:nvPr/>
        </p:nvPicPr>
        <p:blipFill>
          <a:blip r:embed="rId6" cstate="print"/>
          <a:stretch>
            <a:fillRect/>
          </a:stretch>
        </p:blipFill>
        <p:spPr>
          <a:xfrm>
            <a:off x="5980487" y="3313077"/>
            <a:ext cx="2405890" cy="1761766"/>
          </a:xfrm>
          <a:prstGeom prst="rect">
            <a:avLst/>
          </a:prstGeom>
        </p:spPr>
      </p:pic>
      <p:sp>
        <p:nvSpPr>
          <p:cNvPr id="10" name="Rectangle 1">
            <a:extLst>
              <a:ext uri="{FF2B5EF4-FFF2-40B4-BE49-F238E27FC236}">
                <a16:creationId xmlns:a16="http://schemas.microsoft.com/office/drawing/2014/main" id="{FB0B2608-8840-661C-577E-06594CCEA09B}"/>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332411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E8596425-9CF9-8C9C-88E0-9306F0BE537D}"/>
            </a:ext>
          </a:extLst>
        </p:cNvPr>
        <p:cNvGrpSpPr/>
        <p:nvPr/>
      </p:nvGrpSpPr>
      <p:grpSpPr>
        <a:xfrm>
          <a:off x="0" y="0"/>
          <a:ext cx="0" cy="0"/>
          <a:chOff x="0" y="0"/>
          <a:chExt cx="0" cy="0"/>
        </a:xfrm>
      </p:grpSpPr>
      <p:sp>
        <p:nvSpPr>
          <p:cNvPr id="25" name="Google Shape;158;p31">
            <a:extLst>
              <a:ext uri="{FF2B5EF4-FFF2-40B4-BE49-F238E27FC236}">
                <a16:creationId xmlns:a16="http://schemas.microsoft.com/office/drawing/2014/main" id="{A913AA51-A29F-F3BC-5BCB-E4FEB00D426E}"/>
              </a:ext>
            </a:extLst>
          </p:cNvPr>
          <p:cNvSpPr txBox="1">
            <a:spLocks/>
          </p:cNvSpPr>
          <p:nvPr/>
        </p:nvSpPr>
        <p:spPr>
          <a:xfrm>
            <a:off x="2349632" y="790445"/>
            <a:ext cx="4444736" cy="4183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400" dirty="0">
                <a:solidFill>
                  <a:srgbClr val="003F7E"/>
                </a:solidFill>
              </a:rPr>
              <a:t>SUB MERSIBLE SLUDGE PUMPS (900 GPM)</a:t>
            </a:r>
          </a:p>
        </p:txBody>
      </p:sp>
      <p:sp>
        <p:nvSpPr>
          <p:cNvPr id="158" name="Google Shape;158;p31">
            <a:extLst>
              <a:ext uri="{FF2B5EF4-FFF2-40B4-BE49-F238E27FC236}">
                <a16:creationId xmlns:a16="http://schemas.microsoft.com/office/drawing/2014/main" id="{B9A1A7F6-B5B0-E375-4472-62A1F581EF9C}"/>
              </a:ext>
            </a:extLst>
          </p:cNvPr>
          <p:cNvSpPr txBox="1">
            <a:spLocks noGrp="1"/>
          </p:cNvSpPr>
          <p:nvPr>
            <p:ph type="ctrTitle"/>
          </p:nvPr>
        </p:nvSpPr>
        <p:spPr>
          <a:xfrm>
            <a:off x="1837400" y="425625"/>
            <a:ext cx="5469200" cy="34987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MEP Project</a:t>
            </a:r>
          </a:p>
        </p:txBody>
      </p:sp>
      <p:pic>
        <p:nvPicPr>
          <p:cNvPr id="6" name="Picture 5">
            <a:extLst>
              <a:ext uri="{FF2B5EF4-FFF2-40B4-BE49-F238E27FC236}">
                <a16:creationId xmlns:a16="http://schemas.microsoft.com/office/drawing/2014/main" id="{E6548097-018A-9DCF-2813-DB201E0ABDC8}"/>
              </a:ext>
            </a:extLst>
          </p:cNvPr>
          <p:cNvPicPr>
            <a:picLocks noChangeAspect="1"/>
          </p:cNvPicPr>
          <p:nvPr/>
        </p:nvPicPr>
        <p:blipFill>
          <a:blip r:embed="rId3"/>
          <a:stretch>
            <a:fillRect/>
          </a:stretch>
        </p:blipFill>
        <p:spPr>
          <a:xfrm>
            <a:off x="279085" y="205228"/>
            <a:ext cx="960122" cy="1170434"/>
          </a:xfrm>
          <a:prstGeom prst="rect">
            <a:avLst/>
          </a:prstGeom>
        </p:spPr>
      </p:pic>
      <p:pic>
        <p:nvPicPr>
          <p:cNvPr id="9" name="Picture 8">
            <a:extLst>
              <a:ext uri="{FF2B5EF4-FFF2-40B4-BE49-F238E27FC236}">
                <a16:creationId xmlns:a16="http://schemas.microsoft.com/office/drawing/2014/main" id="{BBDCC0D7-0C54-3164-37D1-4825864D0587}"/>
              </a:ext>
            </a:extLst>
          </p:cNvPr>
          <p:cNvPicPr>
            <a:picLocks noChangeAspect="1"/>
          </p:cNvPicPr>
          <p:nvPr/>
        </p:nvPicPr>
        <p:blipFill>
          <a:blip r:embed="rId4"/>
          <a:stretch>
            <a:fillRect/>
          </a:stretch>
        </p:blipFill>
        <p:spPr>
          <a:xfrm>
            <a:off x="483852" y="1808948"/>
            <a:ext cx="3731559" cy="2798669"/>
          </a:xfrm>
          <a:prstGeom prst="rect">
            <a:avLst/>
          </a:prstGeom>
        </p:spPr>
      </p:pic>
      <p:pic>
        <p:nvPicPr>
          <p:cNvPr id="11" name="Picture 10">
            <a:extLst>
              <a:ext uri="{FF2B5EF4-FFF2-40B4-BE49-F238E27FC236}">
                <a16:creationId xmlns:a16="http://schemas.microsoft.com/office/drawing/2014/main" id="{4747CEA3-00F7-BC00-76D4-9E14608C22DD}"/>
              </a:ext>
            </a:extLst>
          </p:cNvPr>
          <p:cNvPicPr>
            <a:picLocks noChangeAspect="1"/>
          </p:cNvPicPr>
          <p:nvPr/>
        </p:nvPicPr>
        <p:blipFill>
          <a:blip r:embed="rId5"/>
          <a:stretch>
            <a:fillRect/>
          </a:stretch>
        </p:blipFill>
        <p:spPr>
          <a:xfrm>
            <a:off x="4323537" y="1808948"/>
            <a:ext cx="3731559" cy="2798669"/>
          </a:xfrm>
          <a:prstGeom prst="rect">
            <a:avLst/>
          </a:prstGeom>
        </p:spPr>
      </p:pic>
      <p:sp>
        <p:nvSpPr>
          <p:cNvPr id="2" name="Rectangle 1">
            <a:extLst>
              <a:ext uri="{FF2B5EF4-FFF2-40B4-BE49-F238E27FC236}">
                <a16:creationId xmlns:a16="http://schemas.microsoft.com/office/drawing/2014/main" id="{6D45070A-A510-4410-4384-7E49C4D815F5}"/>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3499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0DBD8D41-442D-AC2E-18F7-83AE5A95651E}"/>
            </a:ext>
          </a:extLst>
        </p:cNvPr>
        <p:cNvGrpSpPr/>
        <p:nvPr/>
      </p:nvGrpSpPr>
      <p:grpSpPr>
        <a:xfrm>
          <a:off x="0" y="0"/>
          <a:ext cx="0" cy="0"/>
          <a:chOff x="0" y="0"/>
          <a:chExt cx="0" cy="0"/>
        </a:xfrm>
      </p:grpSpPr>
      <p:sp>
        <p:nvSpPr>
          <p:cNvPr id="25" name="Google Shape;158;p31">
            <a:extLst>
              <a:ext uri="{FF2B5EF4-FFF2-40B4-BE49-F238E27FC236}">
                <a16:creationId xmlns:a16="http://schemas.microsoft.com/office/drawing/2014/main" id="{BCC3DC75-3D14-20C2-15E8-89FA5F720A35}"/>
              </a:ext>
            </a:extLst>
          </p:cNvPr>
          <p:cNvSpPr txBox="1">
            <a:spLocks/>
          </p:cNvSpPr>
          <p:nvPr/>
        </p:nvSpPr>
        <p:spPr>
          <a:xfrm>
            <a:off x="1239207" y="790445"/>
            <a:ext cx="6815889" cy="4183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UG Water Tank Chemical Proofing (Capacity 2500m3)</a:t>
            </a:r>
          </a:p>
        </p:txBody>
      </p:sp>
      <p:sp>
        <p:nvSpPr>
          <p:cNvPr id="158" name="Google Shape;158;p31">
            <a:extLst>
              <a:ext uri="{FF2B5EF4-FFF2-40B4-BE49-F238E27FC236}">
                <a16:creationId xmlns:a16="http://schemas.microsoft.com/office/drawing/2014/main" id="{5B8433D3-179D-3BDF-4BEE-56B5003C70D4}"/>
              </a:ext>
            </a:extLst>
          </p:cNvPr>
          <p:cNvSpPr txBox="1">
            <a:spLocks noGrp="1"/>
          </p:cNvSpPr>
          <p:nvPr>
            <p:ph type="ctrTitle"/>
          </p:nvPr>
        </p:nvSpPr>
        <p:spPr>
          <a:xfrm>
            <a:off x="1402080" y="425625"/>
            <a:ext cx="6385560" cy="34987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Chemical Proofing Project</a:t>
            </a:r>
          </a:p>
        </p:txBody>
      </p:sp>
      <p:pic>
        <p:nvPicPr>
          <p:cNvPr id="6" name="Picture 5">
            <a:extLst>
              <a:ext uri="{FF2B5EF4-FFF2-40B4-BE49-F238E27FC236}">
                <a16:creationId xmlns:a16="http://schemas.microsoft.com/office/drawing/2014/main" id="{CC69DC6E-90BF-9246-8323-95580B46F8B9}"/>
              </a:ext>
            </a:extLst>
          </p:cNvPr>
          <p:cNvPicPr>
            <a:picLocks noChangeAspect="1"/>
          </p:cNvPicPr>
          <p:nvPr/>
        </p:nvPicPr>
        <p:blipFill>
          <a:blip r:embed="rId3"/>
          <a:stretch>
            <a:fillRect/>
          </a:stretch>
        </p:blipFill>
        <p:spPr>
          <a:xfrm>
            <a:off x="279085" y="205228"/>
            <a:ext cx="960122" cy="1170434"/>
          </a:xfrm>
          <a:prstGeom prst="rect">
            <a:avLst/>
          </a:prstGeom>
        </p:spPr>
      </p:pic>
      <p:sp>
        <p:nvSpPr>
          <p:cNvPr id="2" name="Rectangle 1">
            <a:extLst>
              <a:ext uri="{FF2B5EF4-FFF2-40B4-BE49-F238E27FC236}">
                <a16:creationId xmlns:a16="http://schemas.microsoft.com/office/drawing/2014/main" id="{ACC94A7E-BB01-3272-8902-33DDB924F2E7}"/>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4" name="Picture 3">
            <a:extLst>
              <a:ext uri="{FF2B5EF4-FFF2-40B4-BE49-F238E27FC236}">
                <a16:creationId xmlns:a16="http://schemas.microsoft.com/office/drawing/2014/main" id="{D0351B42-089F-5B6D-B379-41044124C292}"/>
              </a:ext>
            </a:extLst>
          </p:cNvPr>
          <p:cNvPicPr>
            <a:picLocks noChangeAspect="1"/>
          </p:cNvPicPr>
          <p:nvPr/>
        </p:nvPicPr>
        <p:blipFill>
          <a:blip r:embed="rId4"/>
          <a:stretch>
            <a:fillRect/>
          </a:stretch>
        </p:blipFill>
        <p:spPr>
          <a:xfrm>
            <a:off x="1546563" y="1511300"/>
            <a:ext cx="2643678" cy="3524904"/>
          </a:xfrm>
          <a:prstGeom prst="rect">
            <a:avLst/>
          </a:prstGeom>
        </p:spPr>
      </p:pic>
      <p:pic>
        <p:nvPicPr>
          <p:cNvPr id="7" name="Picture 6">
            <a:extLst>
              <a:ext uri="{FF2B5EF4-FFF2-40B4-BE49-F238E27FC236}">
                <a16:creationId xmlns:a16="http://schemas.microsoft.com/office/drawing/2014/main" id="{18941A78-2867-5BB7-8FC4-FDAEA1006878}"/>
              </a:ext>
            </a:extLst>
          </p:cNvPr>
          <p:cNvPicPr>
            <a:picLocks noChangeAspect="1"/>
          </p:cNvPicPr>
          <p:nvPr/>
        </p:nvPicPr>
        <p:blipFill>
          <a:blip r:embed="rId5"/>
          <a:stretch>
            <a:fillRect/>
          </a:stretch>
        </p:blipFill>
        <p:spPr>
          <a:xfrm>
            <a:off x="4953761" y="1511299"/>
            <a:ext cx="2643678" cy="3524904"/>
          </a:xfrm>
          <a:prstGeom prst="rect">
            <a:avLst/>
          </a:prstGeom>
        </p:spPr>
      </p:pic>
    </p:spTree>
    <p:extLst>
      <p:ext uri="{BB962C8B-B14F-4D97-AF65-F5344CB8AC3E}">
        <p14:creationId xmlns:p14="http://schemas.microsoft.com/office/powerpoint/2010/main" val="516280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36499D99-F1C9-E4B5-3F76-D3C7F5DBD7E6}"/>
            </a:ext>
          </a:extLst>
        </p:cNvPr>
        <p:cNvGrpSpPr/>
        <p:nvPr/>
      </p:nvGrpSpPr>
      <p:grpSpPr>
        <a:xfrm>
          <a:off x="0" y="0"/>
          <a:ext cx="0" cy="0"/>
          <a:chOff x="0" y="0"/>
          <a:chExt cx="0" cy="0"/>
        </a:xfrm>
      </p:grpSpPr>
      <p:sp>
        <p:nvSpPr>
          <p:cNvPr id="25" name="Google Shape;158;p31">
            <a:extLst>
              <a:ext uri="{FF2B5EF4-FFF2-40B4-BE49-F238E27FC236}">
                <a16:creationId xmlns:a16="http://schemas.microsoft.com/office/drawing/2014/main" id="{5354600C-28A5-D926-F2AC-46F9DFE170AC}"/>
              </a:ext>
            </a:extLst>
          </p:cNvPr>
          <p:cNvSpPr txBox="1">
            <a:spLocks/>
          </p:cNvSpPr>
          <p:nvPr/>
        </p:nvSpPr>
        <p:spPr>
          <a:xfrm>
            <a:off x="1239207" y="790445"/>
            <a:ext cx="6815889" cy="4183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Tank Chemical Proofing </a:t>
            </a:r>
          </a:p>
        </p:txBody>
      </p:sp>
      <p:sp>
        <p:nvSpPr>
          <p:cNvPr id="158" name="Google Shape;158;p31">
            <a:extLst>
              <a:ext uri="{FF2B5EF4-FFF2-40B4-BE49-F238E27FC236}">
                <a16:creationId xmlns:a16="http://schemas.microsoft.com/office/drawing/2014/main" id="{4C37B812-FC75-B794-25AD-3846AD915709}"/>
              </a:ext>
            </a:extLst>
          </p:cNvPr>
          <p:cNvSpPr txBox="1">
            <a:spLocks noGrp="1"/>
          </p:cNvSpPr>
          <p:nvPr>
            <p:ph type="ctrTitle"/>
          </p:nvPr>
        </p:nvSpPr>
        <p:spPr>
          <a:xfrm>
            <a:off x="1402080" y="425625"/>
            <a:ext cx="6385560" cy="34987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Chemical Proofing Project</a:t>
            </a:r>
          </a:p>
        </p:txBody>
      </p:sp>
      <p:pic>
        <p:nvPicPr>
          <p:cNvPr id="6" name="Picture 5">
            <a:extLst>
              <a:ext uri="{FF2B5EF4-FFF2-40B4-BE49-F238E27FC236}">
                <a16:creationId xmlns:a16="http://schemas.microsoft.com/office/drawing/2014/main" id="{5C8914DC-4BB1-1447-0976-ED8E1A426809}"/>
              </a:ext>
            </a:extLst>
          </p:cNvPr>
          <p:cNvPicPr>
            <a:picLocks noChangeAspect="1"/>
          </p:cNvPicPr>
          <p:nvPr/>
        </p:nvPicPr>
        <p:blipFill>
          <a:blip r:embed="rId3"/>
          <a:stretch>
            <a:fillRect/>
          </a:stretch>
        </p:blipFill>
        <p:spPr>
          <a:xfrm>
            <a:off x="279085" y="205228"/>
            <a:ext cx="960122" cy="1170434"/>
          </a:xfrm>
          <a:prstGeom prst="rect">
            <a:avLst/>
          </a:prstGeom>
        </p:spPr>
      </p:pic>
      <p:sp>
        <p:nvSpPr>
          <p:cNvPr id="2" name="Rectangle 1">
            <a:extLst>
              <a:ext uri="{FF2B5EF4-FFF2-40B4-BE49-F238E27FC236}">
                <a16:creationId xmlns:a16="http://schemas.microsoft.com/office/drawing/2014/main" id="{8BC9C081-6AF9-D3E9-77BC-2D13198D6697}"/>
              </a:ext>
            </a:extLst>
          </p:cNvPr>
          <p:cNvSpPr/>
          <p:nvPr/>
        </p:nvSpPr>
        <p:spPr>
          <a:xfrm>
            <a:off x="8055096" y="0"/>
            <a:ext cx="1088904"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1026" name="Picture 2">
            <a:extLst>
              <a:ext uri="{FF2B5EF4-FFF2-40B4-BE49-F238E27FC236}">
                <a16:creationId xmlns:a16="http://schemas.microsoft.com/office/drawing/2014/main" id="{6849694C-72C4-4FD8-CD2A-1F2B74BD8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84" y="1435740"/>
            <a:ext cx="4140855" cy="29762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C1B6341-81D7-6BEA-1BAB-0741DACE6322}"/>
              </a:ext>
            </a:extLst>
          </p:cNvPr>
          <p:cNvPicPr>
            <a:picLocks noChangeAspect="1"/>
          </p:cNvPicPr>
          <p:nvPr/>
        </p:nvPicPr>
        <p:blipFill>
          <a:blip r:embed="rId5"/>
          <a:stretch>
            <a:fillRect/>
          </a:stretch>
        </p:blipFill>
        <p:spPr>
          <a:xfrm>
            <a:off x="4724063" y="1435740"/>
            <a:ext cx="2370157" cy="1688543"/>
          </a:xfrm>
          <a:prstGeom prst="rect">
            <a:avLst/>
          </a:prstGeom>
        </p:spPr>
      </p:pic>
      <p:pic>
        <p:nvPicPr>
          <p:cNvPr id="9" name="Picture 8">
            <a:extLst>
              <a:ext uri="{FF2B5EF4-FFF2-40B4-BE49-F238E27FC236}">
                <a16:creationId xmlns:a16="http://schemas.microsoft.com/office/drawing/2014/main" id="{675E955A-82D6-3EC0-2A80-880E87F7393B}"/>
              </a:ext>
            </a:extLst>
          </p:cNvPr>
          <p:cNvPicPr>
            <a:picLocks noChangeAspect="1"/>
          </p:cNvPicPr>
          <p:nvPr/>
        </p:nvPicPr>
        <p:blipFill>
          <a:blip r:embed="rId6"/>
          <a:srcRect r="4268"/>
          <a:stretch>
            <a:fillRect/>
          </a:stretch>
        </p:blipFill>
        <p:spPr>
          <a:xfrm rot="16200000">
            <a:off x="6252160" y="3040491"/>
            <a:ext cx="1878495" cy="2213552"/>
          </a:xfrm>
          <a:prstGeom prst="rect">
            <a:avLst/>
          </a:prstGeom>
        </p:spPr>
      </p:pic>
    </p:spTree>
    <p:extLst>
      <p:ext uri="{BB962C8B-B14F-4D97-AF65-F5344CB8AC3E}">
        <p14:creationId xmlns:p14="http://schemas.microsoft.com/office/powerpoint/2010/main" val="3378748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2684D05E-10DA-BCEC-7D04-8B42A1AA4A36}"/>
            </a:ext>
          </a:extLst>
        </p:cNvPr>
        <p:cNvGrpSpPr/>
        <p:nvPr/>
      </p:nvGrpSpPr>
      <p:grpSpPr>
        <a:xfrm>
          <a:off x="0" y="0"/>
          <a:ext cx="0" cy="0"/>
          <a:chOff x="0" y="0"/>
          <a:chExt cx="0" cy="0"/>
        </a:xfrm>
      </p:grpSpPr>
      <p:sp>
        <p:nvSpPr>
          <p:cNvPr id="25" name="Google Shape;158;p31">
            <a:extLst>
              <a:ext uri="{FF2B5EF4-FFF2-40B4-BE49-F238E27FC236}">
                <a16:creationId xmlns:a16="http://schemas.microsoft.com/office/drawing/2014/main" id="{1A4F0D11-18FD-8A6A-5ED0-1D8812681DDD}"/>
              </a:ext>
            </a:extLst>
          </p:cNvPr>
          <p:cNvSpPr txBox="1">
            <a:spLocks/>
          </p:cNvSpPr>
          <p:nvPr/>
        </p:nvSpPr>
        <p:spPr>
          <a:xfrm>
            <a:off x="1239207" y="790445"/>
            <a:ext cx="6815889" cy="4183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Installation &amp; painting</a:t>
            </a:r>
          </a:p>
        </p:txBody>
      </p:sp>
      <p:sp>
        <p:nvSpPr>
          <p:cNvPr id="158" name="Google Shape;158;p31">
            <a:extLst>
              <a:ext uri="{FF2B5EF4-FFF2-40B4-BE49-F238E27FC236}">
                <a16:creationId xmlns:a16="http://schemas.microsoft.com/office/drawing/2014/main" id="{F5C927B7-8586-9752-02F6-88FF35AB5309}"/>
              </a:ext>
            </a:extLst>
          </p:cNvPr>
          <p:cNvSpPr txBox="1">
            <a:spLocks noGrp="1"/>
          </p:cNvSpPr>
          <p:nvPr>
            <p:ph type="ctrTitle"/>
          </p:nvPr>
        </p:nvSpPr>
        <p:spPr>
          <a:xfrm>
            <a:off x="1402080" y="425625"/>
            <a:ext cx="6385560" cy="34987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err="1">
                <a:solidFill>
                  <a:srgbClr val="003F7E"/>
                </a:solidFill>
              </a:rPr>
              <a:t>Kerb</a:t>
            </a:r>
            <a:r>
              <a:rPr lang="en-US" sz="3200" dirty="0">
                <a:solidFill>
                  <a:srgbClr val="003F7E"/>
                </a:solidFill>
              </a:rPr>
              <a:t> Stone Works</a:t>
            </a:r>
          </a:p>
        </p:txBody>
      </p:sp>
      <p:pic>
        <p:nvPicPr>
          <p:cNvPr id="6" name="Picture 5">
            <a:extLst>
              <a:ext uri="{FF2B5EF4-FFF2-40B4-BE49-F238E27FC236}">
                <a16:creationId xmlns:a16="http://schemas.microsoft.com/office/drawing/2014/main" id="{6D49A543-ACF4-C8B2-805D-DCB9692EC662}"/>
              </a:ext>
            </a:extLst>
          </p:cNvPr>
          <p:cNvPicPr>
            <a:picLocks noChangeAspect="1"/>
          </p:cNvPicPr>
          <p:nvPr/>
        </p:nvPicPr>
        <p:blipFill>
          <a:blip r:embed="rId3"/>
          <a:stretch>
            <a:fillRect/>
          </a:stretch>
        </p:blipFill>
        <p:spPr>
          <a:xfrm>
            <a:off x="279085" y="205228"/>
            <a:ext cx="960122" cy="1170434"/>
          </a:xfrm>
          <a:prstGeom prst="rect">
            <a:avLst/>
          </a:prstGeom>
        </p:spPr>
      </p:pic>
      <p:sp>
        <p:nvSpPr>
          <p:cNvPr id="2" name="Rectangle 1">
            <a:extLst>
              <a:ext uri="{FF2B5EF4-FFF2-40B4-BE49-F238E27FC236}">
                <a16:creationId xmlns:a16="http://schemas.microsoft.com/office/drawing/2014/main" id="{C3815824-8B8A-F89F-186B-C473997A9B02}"/>
              </a:ext>
            </a:extLst>
          </p:cNvPr>
          <p:cNvSpPr/>
          <p:nvPr/>
        </p:nvSpPr>
        <p:spPr>
          <a:xfrm>
            <a:off x="8290632" y="0"/>
            <a:ext cx="853368"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15" name="Picture 14">
            <a:extLst>
              <a:ext uri="{FF2B5EF4-FFF2-40B4-BE49-F238E27FC236}">
                <a16:creationId xmlns:a16="http://schemas.microsoft.com/office/drawing/2014/main" id="{B2B4E75F-04D4-F985-CDD4-D8290E966555}"/>
              </a:ext>
            </a:extLst>
          </p:cNvPr>
          <p:cNvPicPr>
            <a:picLocks noChangeAspect="1"/>
          </p:cNvPicPr>
          <p:nvPr/>
        </p:nvPicPr>
        <p:blipFill>
          <a:blip r:embed="rId4"/>
          <a:srcRect l="375" t="17286" r="-375" b="12310"/>
          <a:stretch>
            <a:fillRect/>
          </a:stretch>
        </p:blipFill>
        <p:spPr>
          <a:xfrm>
            <a:off x="279085" y="1464992"/>
            <a:ext cx="3769360" cy="1595121"/>
          </a:xfrm>
          <a:prstGeom prst="rect">
            <a:avLst/>
          </a:prstGeom>
        </p:spPr>
      </p:pic>
      <p:pic>
        <p:nvPicPr>
          <p:cNvPr id="21" name="Picture 20">
            <a:extLst>
              <a:ext uri="{FF2B5EF4-FFF2-40B4-BE49-F238E27FC236}">
                <a16:creationId xmlns:a16="http://schemas.microsoft.com/office/drawing/2014/main" id="{1C2656B4-4AC3-E6FE-8532-933881D2B133}"/>
              </a:ext>
            </a:extLst>
          </p:cNvPr>
          <p:cNvPicPr>
            <a:picLocks noChangeAspect="1"/>
          </p:cNvPicPr>
          <p:nvPr/>
        </p:nvPicPr>
        <p:blipFill>
          <a:blip r:embed="rId5"/>
          <a:stretch>
            <a:fillRect/>
          </a:stretch>
        </p:blipFill>
        <p:spPr>
          <a:xfrm>
            <a:off x="757556" y="3274418"/>
            <a:ext cx="3769360" cy="1727920"/>
          </a:xfrm>
          <a:prstGeom prst="rect">
            <a:avLst/>
          </a:prstGeom>
        </p:spPr>
      </p:pic>
      <p:pic>
        <p:nvPicPr>
          <p:cNvPr id="23" name="Picture 22">
            <a:extLst>
              <a:ext uri="{FF2B5EF4-FFF2-40B4-BE49-F238E27FC236}">
                <a16:creationId xmlns:a16="http://schemas.microsoft.com/office/drawing/2014/main" id="{D34BD439-5235-07B0-E927-9C465724280C}"/>
              </a:ext>
            </a:extLst>
          </p:cNvPr>
          <p:cNvPicPr>
            <a:picLocks noChangeAspect="1"/>
          </p:cNvPicPr>
          <p:nvPr/>
        </p:nvPicPr>
        <p:blipFill>
          <a:blip r:embed="rId6"/>
          <a:stretch>
            <a:fillRect/>
          </a:stretch>
        </p:blipFill>
        <p:spPr>
          <a:xfrm>
            <a:off x="4708556" y="1446179"/>
            <a:ext cx="2921964" cy="1727920"/>
          </a:xfrm>
          <a:prstGeom prst="rect">
            <a:avLst/>
          </a:prstGeom>
        </p:spPr>
      </p:pic>
      <p:pic>
        <p:nvPicPr>
          <p:cNvPr id="4" name="Picture 3">
            <a:extLst>
              <a:ext uri="{FF2B5EF4-FFF2-40B4-BE49-F238E27FC236}">
                <a16:creationId xmlns:a16="http://schemas.microsoft.com/office/drawing/2014/main" id="{DB278CD7-8638-7098-1F45-79C97357F19C}"/>
              </a:ext>
            </a:extLst>
          </p:cNvPr>
          <p:cNvPicPr>
            <a:picLocks noChangeAspect="1"/>
          </p:cNvPicPr>
          <p:nvPr/>
        </p:nvPicPr>
        <p:blipFill>
          <a:blip r:embed="rId7"/>
          <a:stretch>
            <a:fillRect/>
          </a:stretch>
        </p:blipFill>
        <p:spPr>
          <a:xfrm>
            <a:off x="5882639" y="3274418"/>
            <a:ext cx="2503805" cy="1763243"/>
          </a:xfrm>
          <a:prstGeom prst="rect">
            <a:avLst/>
          </a:prstGeom>
        </p:spPr>
      </p:pic>
    </p:spTree>
    <p:extLst>
      <p:ext uri="{BB962C8B-B14F-4D97-AF65-F5344CB8AC3E}">
        <p14:creationId xmlns:p14="http://schemas.microsoft.com/office/powerpoint/2010/main" val="2155587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364EEB0D-4A6C-48F6-6991-EFD3D1410DF7}"/>
            </a:ext>
          </a:extLst>
        </p:cNvPr>
        <p:cNvGrpSpPr/>
        <p:nvPr/>
      </p:nvGrpSpPr>
      <p:grpSpPr>
        <a:xfrm>
          <a:off x="0" y="0"/>
          <a:ext cx="0" cy="0"/>
          <a:chOff x="0" y="0"/>
          <a:chExt cx="0" cy="0"/>
        </a:xfrm>
      </p:grpSpPr>
      <p:sp>
        <p:nvSpPr>
          <p:cNvPr id="25" name="Google Shape;158;p31">
            <a:extLst>
              <a:ext uri="{FF2B5EF4-FFF2-40B4-BE49-F238E27FC236}">
                <a16:creationId xmlns:a16="http://schemas.microsoft.com/office/drawing/2014/main" id="{598A6FFA-378A-1CAE-94AC-BA35D2CCA84E}"/>
              </a:ext>
            </a:extLst>
          </p:cNvPr>
          <p:cNvSpPr txBox="1">
            <a:spLocks/>
          </p:cNvSpPr>
          <p:nvPr/>
        </p:nvSpPr>
        <p:spPr>
          <a:xfrm>
            <a:off x="1239207" y="790445"/>
            <a:ext cx="6815889" cy="4183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B06E"/>
              </a:buClr>
              <a:buSzPts val="5000"/>
              <a:buFont typeface="Montserrat"/>
              <a:buNone/>
              <a:defRPr sz="5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2pPr>
            <a:lvl3pPr marR="0" lvl="2"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3pPr>
            <a:lvl4pPr marR="0" lvl="3"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4pPr>
            <a:lvl5pPr marR="0" lvl="4"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5pPr>
            <a:lvl6pPr marR="0" lvl="5"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6pPr>
            <a:lvl7pPr marR="0" lvl="6"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7pPr>
            <a:lvl8pPr marR="0" lvl="7"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8pPr>
            <a:lvl9pPr marR="0" lvl="8" algn="ctr" rtl="0">
              <a:lnSpc>
                <a:spcPct val="100000"/>
              </a:lnSpc>
              <a:spcBef>
                <a:spcPts val="0"/>
              </a:spcBef>
              <a:spcAft>
                <a:spcPts val="0"/>
              </a:spcAft>
              <a:buClr>
                <a:srgbClr val="FFB06E"/>
              </a:buClr>
              <a:buSzPts val="5200"/>
              <a:buFont typeface="Arial"/>
              <a:buNone/>
              <a:defRPr sz="5200" b="0" i="0" u="none" strike="noStrike" cap="none">
                <a:solidFill>
                  <a:srgbClr val="FFB06E"/>
                </a:solidFill>
                <a:latin typeface="Arial"/>
                <a:ea typeface="Arial"/>
                <a:cs typeface="Arial"/>
                <a:sym typeface="Arial"/>
              </a:defRPr>
            </a:lvl9pPr>
          </a:lstStyle>
          <a:p>
            <a:pPr algn="ctr"/>
            <a:r>
              <a:rPr lang="en-US" sz="1200" dirty="0">
                <a:solidFill>
                  <a:srgbClr val="003F7E"/>
                </a:solidFill>
              </a:rPr>
              <a:t>Installation </a:t>
            </a:r>
          </a:p>
        </p:txBody>
      </p:sp>
      <p:sp>
        <p:nvSpPr>
          <p:cNvPr id="158" name="Google Shape;158;p31">
            <a:extLst>
              <a:ext uri="{FF2B5EF4-FFF2-40B4-BE49-F238E27FC236}">
                <a16:creationId xmlns:a16="http://schemas.microsoft.com/office/drawing/2014/main" id="{C3FEB726-3CA6-54C9-64FC-3C72EBA37871}"/>
              </a:ext>
            </a:extLst>
          </p:cNvPr>
          <p:cNvSpPr txBox="1">
            <a:spLocks noGrp="1"/>
          </p:cNvSpPr>
          <p:nvPr>
            <p:ph type="ctrTitle"/>
          </p:nvPr>
        </p:nvSpPr>
        <p:spPr>
          <a:xfrm>
            <a:off x="1402080" y="425625"/>
            <a:ext cx="6385560" cy="34987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003F7E"/>
                </a:solidFill>
              </a:rPr>
              <a:t>Tuff Tile Works</a:t>
            </a:r>
          </a:p>
        </p:txBody>
      </p:sp>
      <p:pic>
        <p:nvPicPr>
          <p:cNvPr id="6" name="Picture 5">
            <a:extLst>
              <a:ext uri="{FF2B5EF4-FFF2-40B4-BE49-F238E27FC236}">
                <a16:creationId xmlns:a16="http://schemas.microsoft.com/office/drawing/2014/main" id="{78B086D6-93E3-2D6B-F060-F7FED28F34F5}"/>
              </a:ext>
            </a:extLst>
          </p:cNvPr>
          <p:cNvPicPr>
            <a:picLocks noChangeAspect="1"/>
          </p:cNvPicPr>
          <p:nvPr/>
        </p:nvPicPr>
        <p:blipFill>
          <a:blip r:embed="rId3"/>
          <a:stretch>
            <a:fillRect/>
          </a:stretch>
        </p:blipFill>
        <p:spPr>
          <a:xfrm>
            <a:off x="279085" y="205228"/>
            <a:ext cx="960122" cy="1170434"/>
          </a:xfrm>
          <a:prstGeom prst="rect">
            <a:avLst/>
          </a:prstGeom>
        </p:spPr>
      </p:pic>
      <p:sp>
        <p:nvSpPr>
          <p:cNvPr id="2" name="Rectangle 1">
            <a:extLst>
              <a:ext uri="{FF2B5EF4-FFF2-40B4-BE49-F238E27FC236}">
                <a16:creationId xmlns:a16="http://schemas.microsoft.com/office/drawing/2014/main" id="{8A012559-FD3D-DB38-A8F5-BCC305696771}"/>
              </a:ext>
            </a:extLst>
          </p:cNvPr>
          <p:cNvSpPr/>
          <p:nvPr/>
        </p:nvSpPr>
        <p:spPr>
          <a:xfrm>
            <a:off x="8322552" y="0"/>
            <a:ext cx="821448" cy="5137980"/>
          </a:xfrm>
          <a:custGeom>
            <a:avLst/>
            <a:gdLst>
              <a:gd name="connsiteX0" fmla="*/ 0 w 2549376"/>
              <a:gd name="connsiteY0" fmla="*/ 0 h 5143500"/>
              <a:gd name="connsiteX1" fmla="*/ 2549376 w 2549376"/>
              <a:gd name="connsiteY1" fmla="*/ 0 h 5143500"/>
              <a:gd name="connsiteX2" fmla="*/ 2549376 w 2549376"/>
              <a:gd name="connsiteY2" fmla="*/ 5143500 h 5143500"/>
              <a:gd name="connsiteX3" fmla="*/ 0 w 2549376"/>
              <a:gd name="connsiteY3" fmla="*/ 5143500 h 5143500"/>
              <a:gd name="connsiteX4" fmla="*/ 0 w 2549376"/>
              <a:gd name="connsiteY4" fmla="*/ 0 h 5143500"/>
              <a:gd name="connsiteX0" fmla="*/ 0 w 2549376"/>
              <a:gd name="connsiteY0" fmla="*/ 0 h 5143500"/>
              <a:gd name="connsiteX1" fmla="*/ 2549376 w 2549376"/>
              <a:gd name="connsiteY1" fmla="*/ 0 h 5143500"/>
              <a:gd name="connsiteX2" fmla="*/ 2549376 w 2549376"/>
              <a:gd name="connsiteY2" fmla="*/ 5143500 h 5143500"/>
              <a:gd name="connsiteX3" fmla="*/ 1390650 w 2549376"/>
              <a:gd name="connsiteY3" fmla="*/ 5143500 h 5143500"/>
              <a:gd name="connsiteX4" fmla="*/ 0 w 254937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76" h="5143500">
                <a:moveTo>
                  <a:pt x="0" y="0"/>
                </a:moveTo>
                <a:lnTo>
                  <a:pt x="2549376" y="0"/>
                </a:lnTo>
                <a:lnTo>
                  <a:pt x="2549376" y="5143500"/>
                </a:lnTo>
                <a:lnTo>
                  <a:pt x="1390650" y="5143500"/>
                </a:lnTo>
                <a:lnTo>
                  <a:pt x="0" y="0"/>
                </a:lnTo>
                <a:close/>
              </a:path>
            </a:pathLst>
          </a:custGeom>
          <a:solidFill>
            <a:srgbClr val="003BB0">
              <a:alpha val="84706"/>
            </a:srgbClr>
          </a:solidFill>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pic>
        <p:nvPicPr>
          <p:cNvPr id="19" name="Picture 18">
            <a:extLst>
              <a:ext uri="{FF2B5EF4-FFF2-40B4-BE49-F238E27FC236}">
                <a16:creationId xmlns:a16="http://schemas.microsoft.com/office/drawing/2014/main" id="{44FA232C-338A-8F0B-18B3-5E2BBEBFBF42}"/>
              </a:ext>
            </a:extLst>
          </p:cNvPr>
          <p:cNvPicPr>
            <a:picLocks noChangeAspect="1"/>
          </p:cNvPicPr>
          <p:nvPr/>
        </p:nvPicPr>
        <p:blipFill>
          <a:blip r:embed="rId4"/>
          <a:srcRect t="4905"/>
          <a:stretch>
            <a:fillRect/>
          </a:stretch>
        </p:blipFill>
        <p:spPr>
          <a:xfrm>
            <a:off x="3571071" y="1375662"/>
            <a:ext cx="1956843" cy="3473617"/>
          </a:xfrm>
          <a:prstGeom prst="rect">
            <a:avLst/>
          </a:prstGeom>
        </p:spPr>
      </p:pic>
      <p:pic>
        <p:nvPicPr>
          <p:cNvPr id="26" name="Picture 25">
            <a:extLst>
              <a:ext uri="{FF2B5EF4-FFF2-40B4-BE49-F238E27FC236}">
                <a16:creationId xmlns:a16="http://schemas.microsoft.com/office/drawing/2014/main" id="{B5724440-E09F-8410-F15E-1C59DE031ED2}"/>
              </a:ext>
            </a:extLst>
          </p:cNvPr>
          <p:cNvPicPr>
            <a:picLocks noChangeAspect="1"/>
          </p:cNvPicPr>
          <p:nvPr/>
        </p:nvPicPr>
        <p:blipFill>
          <a:blip r:embed="rId5"/>
          <a:stretch>
            <a:fillRect/>
          </a:stretch>
        </p:blipFill>
        <p:spPr>
          <a:xfrm>
            <a:off x="5706140" y="1889757"/>
            <a:ext cx="2758856" cy="2360969"/>
          </a:xfrm>
          <a:prstGeom prst="rect">
            <a:avLst/>
          </a:prstGeom>
        </p:spPr>
      </p:pic>
      <p:pic>
        <p:nvPicPr>
          <p:cNvPr id="28" name="Picture 27">
            <a:extLst>
              <a:ext uri="{FF2B5EF4-FFF2-40B4-BE49-F238E27FC236}">
                <a16:creationId xmlns:a16="http://schemas.microsoft.com/office/drawing/2014/main" id="{AA9914B2-FBF6-15BC-1566-C00DEE0E880B}"/>
              </a:ext>
            </a:extLst>
          </p:cNvPr>
          <p:cNvPicPr>
            <a:picLocks noChangeAspect="1"/>
          </p:cNvPicPr>
          <p:nvPr/>
        </p:nvPicPr>
        <p:blipFill>
          <a:blip r:embed="rId6"/>
          <a:stretch>
            <a:fillRect/>
          </a:stretch>
        </p:blipFill>
        <p:spPr>
          <a:xfrm>
            <a:off x="163292" y="1889757"/>
            <a:ext cx="3210984" cy="2253635"/>
          </a:xfrm>
          <a:prstGeom prst="rect">
            <a:avLst/>
          </a:prstGeom>
        </p:spPr>
      </p:pic>
    </p:spTree>
    <p:extLst>
      <p:ext uri="{BB962C8B-B14F-4D97-AF65-F5344CB8AC3E}">
        <p14:creationId xmlns:p14="http://schemas.microsoft.com/office/powerpoint/2010/main" val="966727154"/>
      </p:ext>
    </p:extLst>
  </p:cSld>
  <p:clrMapOvr>
    <a:masterClrMapping/>
  </p:clrMapOvr>
</p:sld>
</file>

<file path=ppt/theme/theme1.xml><?xml version="1.0" encoding="utf-8"?>
<a:theme xmlns:a="http://schemas.openxmlformats.org/drawingml/2006/main" name="Blace Company Profile by Slidesgo">
  <a:themeElements>
    <a:clrScheme name="Simple Light">
      <a:dk1>
        <a:srgbClr val="000000"/>
      </a:dk1>
      <a:lt1>
        <a:srgbClr val="FFFFFF"/>
      </a:lt1>
      <a:dk2>
        <a:srgbClr val="595959"/>
      </a:dk2>
      <a:lt2>
        <a:srgbClr val="EEEEEE"/>
      </a:lt2>
      <a:accent1>
        <a:srgbClr val="FFAB40"/>
      </a:accent1>
      <a:accent2>
        <a:srgbClr val="9E9E9E"/>
      </a:accent2>
      <a:accent3>
        <a:srgbClr val="FFAB40"/>
      </a:accent3>
      <a:accent4>
        <a:srgbClr val="9E9E9E"/>
      </a:accent4>
      <a:accent5>
        <a:srgbClr val="FFAB40"/>
      </a:accent5>
      <a:accent6>
        <a:srgbClr val="9E9E9E"/>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0">
          <a:schemeClr val="dk1"/>
        </a:lnRef>
        <a:fillRef idx="3">
          <a:schemeClr val="dk1"/>
        </a:fillRef>
        <a:effectRef idx="3">
          <a:schemeClr val="dk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1859</TotalTime>
  <Words>1681</Words>
  <Application>Microsoft Office PowerPoint</Application>
  <PresentationFormat>On-screen Show (16:9)</PresentationFormat>
  <Paragraphs>290</Paragraphs>
  <Slides>25</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Calisto MT</vt:lpstr>
      <vt:lpstr>Roboto Light</vt:lpstr>
      <vt:lpstr>Arial-BoldMT</vt:lpstr>
      <vt:lpstr>Roboto</vt:lpstr>
      <vt:lpstr>Arial</vt:lpstr>
      <vt:lpstr>ArialMT</vt:lpstr>
      <vt:lpstr>Montserrat</vt:lpstr>
      <vt:lpstr>Blace Company Profile by Slidesgo</vt:lpstr>
      <vt:lpstr>VISCON  ENGINEERING  COMPANY PROFILE </vt:lpstr>
      <vt:lpstr>VISCON ENGINEERING </vt:lpstr>
      <vt:lpstr>PROFESSIONAL AFFILIATIONS</vt:lpstr>
      <vt:lpstr>PowerPoint Presentation</vt:lpstr>
      <vt:lpstr>ORGANIZATION CHART</vt:lpstr>
      <vt:lpstr>SERVICES </vt:lpstr>
      <vt:lpstr>SERVICES </vt:lpstr>
      <vt:lpstr>SERVICES </vt:lpstr>
      <vt:lpstr>SERVICES </vt:lpstr>
      <vt:lpstr>LIST OF COMPLETED PROJECTS </vt:lpstr>
      <vt:lpstr>LIST OF COMPLETED PROJECTS </vt:lpstr>
      <vt:lpstr>LIST OF COMPLETED PROJECTS </vt:lpstr>
      <vt:lpstr>Commercial Project</vt:lpstr>
      <vt:lpstr>Commercial Project</vt:lpstr>
      <vt:lpstr>Commercial Project</vt:lpstr>
      <vt:lpstr>Commercial Project</vt:lpstr>
      <vt:lpstr>FARMHOUSE Project</vt:lpstr>
      <vt:lpstr>FARMHOUSE Project</vt:lpstr>
      <vt:lpstr>FARMHOUSE Project</vt:lpstr>
      <vt:lpstr>RESIDENTIAL Project</vt:lpstr>
      <vt:lpstr>MEP Project</vt:lpstr>
      <vt:lpstr>Chemical Proofing Project</vt:lpstr>
      <vt:lpstr>Chemical Proofing Project</vt:lpstr>
      <vt:lpstr>Kerb Stone Works</vt:lpstr>
      <vt:lpstr>Tuff Tile 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VISCON  ENGINEERING  COMPANY PROFILE</dc:title>
  <dc:creator>Cobra</dc:creator>
  <cp:lastModifiedBy>Yusuf Shah</cp:lastModifiedBy>
  <cp:revision>53</cp:revision>
  <cp:lastPrinted>2026-04-06T15:41:27Z</cp:lastPrinted>
  <dcterms:modified xsi:type="dcterms:W3CDTF">2026-09-01T16:26:42Z</dcterms:modified>
</cp:coreProperties>
</file>